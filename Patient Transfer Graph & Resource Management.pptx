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League Spartan" panose="020B0604020202020204" charset="0"/>
      <p:regular r:id="rId14"/>
    </p:embeddedFont>
    <p:embeddedFont>
      <p:font typeface="Poppins" panose="020B0502040204020203" pitchFamily="2" charset="0"/>
      <p:regular r:id="rId15"/>
    </p:embeddedFont>
    <p:embeddedFont>
      <p:font typeface="Poppins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9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sv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7619B"/>
        </a:solidFill>
        <a:effectLst/>
      </p:bgPr>
    </p:bg>
    <p:spTree>
      <p:nvGrpSpPr>
        <p:cNvPr id="1" name=""/>
        <p:cNvGrpSpPr/>
        <p:nvPr/>
      </p:nvGrpSpPr>
      <p:grpSpPr>
        <a:xfrm>
          <a:off x="0" y="0"/>
          <a:ext cx="0" cy="0"/>
          <a:chOff x="0" y="0"/>
          <a:chExt cx="0" cy="0"/>
        </a:xfrm>
      </p:grpSpPr>
      <p:grpSp>
        <p:nvGrpSpPr>
          <p:cNvPr id="2" name="Group 2"/>
          <p:cNvGrpSpPr/>
          <p:nvPr/>
        </p:nvGrpSpPr>
        <p:grpSpPr>
          <a:xfrm>
            <a:off x="-1651907" y="-1983921"/>
            <a:ext cx="6882493" cy="688249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369"/>
            </a:solidFill>
          </p:spPr>
        </p:sp>
        <p:sp>
          <p:nvSpPr>
            <p:cNvPr id="4" name="TextBox 4"/>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13818054" y="6044293"/>
            <a:ext cx="6882493" cy="688249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369"/>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2870427" y="3679371"/>
            <a:ext cx="5740854" cy="574085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42975" cap="sq">
              <a:solidFill>
                <a:srgbClr val="004369"/>
              </a:solidFill>
              <a:prstDash val="solid"/>
              <a:miter/>
            </a:ln>
          </p:spPr>
        </p:sp>
        <p:sp>
          <p:nvSpPr>
            <p:cNvPr id="10" name="TextBox 10"/>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1501548" y="-1501548"/>
            <a:ext cx="5414282" cy="5414282"/>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42950" cap="sq">
              <a:solidFill>
                <a:srgbClr val="FFFFFF"/>
              </a:solidFill>
              <a:prstDash val="solid"/>
              <a:miter/>
            </a:ln>
          </p:spPr>
        </p:sp>
        <p:sp>
          <p:nvSpPr>
            <p:cNvPr id="13" name="TextBox 13"/>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grpSp>
        <p:nvGrpSpPr>
          <p:cNvPr id="14" name="Group 14"/>
          <p:cNvGrpSpPr/>
          <p:nvPr/>
        </p:nvGrpSpPr>
        <p:grpSpPr>
          <a:xfrm>
            <a:off x="14729052" y="7198179"/>
            <a:ext cx="5060496" cy="5060496"/>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14375" cap="sq">
              <a:solidFill>
                <a:srgbClr val="FFFFFF"/>
              </a:solidFill>
              <a:prstDash val="solid"/>
              <a:miter/>
            </a:ln>
          </p:spPr>
        </p:sp>
        <p:sp>
          <p:nvSpPr>
            <p:cNvPr id="16" name="TextBox 16"/>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grpSp>
        <p:nvGrpSpPr>
          <p:cNvPr id="17" name="Group 17"/>
          <p:cNvGrpSpPr/>
          <p:nvPr/>
        </p:nvGrpSpPr>
        <p:grpSpPr>
          <a:xfrm>
            <a:off x="15417573" y="1457325"/>
            <a:ext cx="5740854" cy="5740854"/>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42975" cap="sq">
              <a:solidFill>
                <a:srgbClr val="004369"/>
              </a:solidFill>
              <a:prstDash val="solid"/>
              <a:miter/>
            </a:ln>
          </p:spPr>
        </p:sp>
        <p:sp>
          <p:nvSpPr>
            <p:cNvPr id="19" name="TextBox 19"/>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sp>
        <p:nvSpPr>
          <p:cNvPr id="20" name="TextBox 20"/>
          <p:cNvSpPr txBox="1"/>
          <p:nvPr/>
        </p:nvSpPr>
        <p:spPr>
          <a:xfrm>
            <a:off x="4357995" y="2997046"/>
            <a:ext cx="9572010" cy="1798288"/>
          </a:xfrm>
          <a:prstGeom prst="rect">
            <a:avLst/>
          </a:prstGeom>
        </p:spPr>
        <p:txBody>
          <a:bodyPr lIns="0" tIns="0" rIns="0" bIns="0" rtlCol="0" anchor="t">
            <a:spAutoFit/>
          </a:bodyPr>
          <a:lstStyle/>
          <a:p>
            <a:pPr marL="0" lvl="0" indent="0" algn="ctr">
              <a:lnSpc>
                <a:spcPts val="7018"/>
              </a:lnSpc>
            </a:pPr>
            <a:r>
              <a:rPr lang="en-US" sz="6210">
                <a:solidFill>
                  <a:srgbClr val="FFFFFF"/>
                </a:solidFill>
                <a:latin typeface="League Spartan"/>
                <a:ea typeface="League Spartan"/>
                <a:cs typeface="League Spartan"/>
                <a:sym typeface="League Spartan"/>
              </a:rPr>
              <a:t>HOSPITAL RESOURCE MANAGEMENT</a:t>
            </a:r>
          </a:p>
        </p:txBody>
      </p:sp>
      <p:sp>
        <p:nvSpPr>
          <p:cNvPr id="21" name="Freeform 21"/>
          <p:cNvSpPr/>
          <p:nvPr/>
        </p:nvSpPr>
        <p:spPr>
          <a:xfrm flipV="1">
            <a:off x="14377680" y="0"/>
            <a:ext cx="3934056" cy="4114800"/>
          </a:xfrm>
          <a:custGeom>
            <a:avLst/>
            <a:gdLst/>
            <a:ahLst/>
            <a:cxnLst/>
            <a:rect l="l" t="t" r="r" b="b"/>
            <a:pathLst>
              <a:path w="3934056" h="4114800">
                <a:moveTo>
                  <a:pt x="0" y="4114800"/>
                </a:moveTo>
                <a:lnTo>
                  <a:pt x="3934056" y="4114800"/>
                </a:lnTo>
                <a:lnTo>
                  <a:pt x="3934056" y="0"/>
                </a:lnTo>
                <a:lnTo>
                  <a:pt x="0" y="0"/>
                </a:lnTo>
                <a:lnTo>
                  <a:pt x="0" y="4114800"/>
                </a:lnTo>
                <a:close/>
              </a:path>
            </a:pathLst>
          </a:custGeom>
          <a:blipFill>
            <a:blip>
              <a:extLst>
                <a:ext uri="{96DAC541-7B7A-43D3-8B79-37D633B846F1}">
                  <asvg:svgBlip xmlns:asvg="http://schemas.microsoft.com/office/drawing/2016/SVG/main" r:embed="rId2"/>
                </a:ext>
              </a:extLst>
            </a:blip>
            <a:stretch>
              <a:fillRect/>
            </a:stretch>
          </a:blipFill>
        </p:spPr>
      </p:sp>
      <p:sp>
        <p:nvSpPr>
          <p:cNvPr id="22" name="Freeform 22"/>
          <p:cNvSpPr/>
          <p:nvPr/>
        </p:nvSpPr>
        <p:spPr>
          <a:xfrm flipH="1">
            <a:off x="-21322" y="6549798"/>
            <a:ext cx="3934056" cy="4114800"/>
          </a:xfrm>
          <a:custGeom>
            <a:avLst/>
            <a:gdLst/>
            <a:ahLst/>
            <a:cxnLst/>
            <a:rect l="l" t="t" r="r" b="b"/>
            <a:pathLst>
              <a:path w="3934056" h="4114800">
                <a:moveTo>
                  <a:pt x="3934056" y="0"/>
                </a:moveTo>
                <a:lnTo>
                  <a:pt x="0" y="0"/>
                </a:lnTo>
                <a:lnTo>
                  <a:pt x="0" y="4114800"/>
                </a:lnTo>
                <a:lnTo>
                  <a:pt x="3934056" y="4114800"/>
                </a:lnTo>
                <a:lnTo>
                  <a:pt x="3934056"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p:cNvSpPr/>
          <p:nvPr/>
        </p:nvSpPr>
        <p:spPr>
          <a:xfrm>
            <a:off x="8894031" y="1028700"/>
            <a:ext cx="499938" cy="482667"/>
          </a:xfrm>
          <a:custGeom>
            <a:avLst/>
            <a:gdLst/>
            <a:ahLst/>
            <a:cxnLst/>
            <a:rect l="l" t="t" r="r" b="b"/>
            <a:pathLst>
              <a:path w="499938" h="482667">
                <a:moveTo>
                  <a:pt x="0" y="0"/>
                </a:moveTo>
                <a:lnTo>
                  <a:pt x="499938" y="0"/>
                </a:lnTo>
                <a:lnTo>
                  <a:pt x="499938" y="482667"/>
                </a:lnTo>
                <a:lnTo>
                  <a:pt x="0" y="48266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4" name="Freeform 24"/>
          <p:cNvSpPr/>
          <p:nvPr/>
        </p:nvSpPr>
        <p:spPr>
          <a:xfrm>
            <a:off x="8778107" y="8503246"/>
            <a:ext cx="731786" cy="207904"/>
          </a:xfrm>
          <a:custGeom>
            <a:avLst/>
            <a:gdLst/>
            <a:ahLst/>
            <a:cxnLst/>
            <a:rect l="l" t="t" r="r" b="b"/>
            <a:pathLst>
              <a:path w="731786" h="207904">
                <a:moveTo>
                  <a:pt x="0" y="0"/>
                </a:moveTo>
                <a:lnTo>
                  <a:pt x="731786" y="0"/>
                </a:lnTo>
                <a:lnTo>
                  <a:pt x="731786" y="207904"/>
                </a:lnTo>
                <a:lnTo>
                  <a:pt x="0" y="207904"/>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25" name="Group 25"/>
          <p:cNvGrpSpPr/>
          <p:nvPr/>
        </p:nvGrpSpPr>
        <p:grpSpPr>
          <a:xfrm>
            <a:off x="8347577" y="8374194"/>
            <a:ext cx="1592846" cy="466009"/>
            <a:chOff x="0" y="0"/>
            <a:chExt cx="566262" cy="165668"/>
          </a:xfrm>
        </p:grpSpPr>
        <p:sp>
          <p:nvSpPr>
            <p:cNvPr id="26" name="Freeform 26"/>
            <p:cNvSpPr/>
            <p:nvPr/>
          </p:nvSpPr>
          <p:spPr>
            <a:xfrm>
              <a:off x="0" y="0"/>
              <a:ext cx="566262" cy="165668"/>
            </a:xfrm>
            <a:custGeom>
              <a:avLst/>
              <a:gdLst/>
              <a:ahLst/>
              <a:cxnLst/>
              <a:rect l="l" t="t" r="r" b="b"/>
              <a:pathLst>
                <a:path w="566262" h="165668">
                  <a:moveTo>
                    <a:pt x="82834" y="0"/>
                  </a:moveTo>
                  <a:lnTo>
                    <a:pt x="483428" y="0"/>
                  </a:lnTo>
                  <a:cubicBezTo>
                    <a:pt x="505397" y="0"/>
                    <a:pt x="526466" y="8727"/>
                    <a:pt x="542001" y="24261"/>
                  </a:cubicBezTo>
                  <a:cubicBezTo>
                    <a:pt x="557535" y="39796"/>
                    <a:pt x="566262" y="60865"/>
                    <a:pt x="566262" y="82834"/>
                  </a:cubicBezTo>
                  <a:lnTo>
                    <a:pt x="566262" y="82834"/>
                  </a:lnTo>
                  <a:cubicBezTo>
                    <a:pt x="566262" y="128582"/>
                    <a:pt x="529176" y="165668"/>
                    <a:pt x="483428" y="165668"/>
                  </a:cubicBezTo>
                  <a:lnTo>
                    <a:pt x="82834" y="165668"/>
                  </a:lnTo>
                  <a:cubicBezTo>
                    <a:pt x="37086" y="165668"/>
                    <a:pt x="0" y="128582"/>
                    <a:pt x="0" y="82834"/>
                  </a:cubicBezTo>
                  <a:lnTo>
                    <a:pt x="0" y="82834"/>
                  </a:lnTo>
                  <a:cubicBezTo>
                    <a:pt x="0" y="37086"/>
                    <a:pt x="37086" y="0"/>
                    <a:pt x="82834" y="0"/>
                  </a:cubicBezTo>
                  <a:close/>
                </a:path>
              </a:pathLst>
            </a:custGeom>
            <a:ln w="38100" cap="rnd">
              <a:solidFill>
                <a:srgbClr val="FFFFFF"/>
              </a:solidFill>
              <a:prstDash val="solid"/>
              <a:round/>
            </a:ln>
          </p:spPr>
        </p:sp>
        <p:sp>
          <p:nvSpPr>
            <p:cNvPr id="27" name="TextBox 27"/>
            <p:cNvSpPr txBox="1"/>
            <p:nvPr/>
          </p:nvSpPr>
          <p:spPr>
            <a:xfrm>
              <a:off x="0" y="-57150"/>
              <a:ext cx="566262" cy="222818"/>
            </a:xfrm>
            <a:prstGeom prst="rect">
              <a:avLst/>
            </a:prstGeom>
          </p:spPr>
          <p:txBody>
            <a:bodyPr lIns="50800" tIns="50800" rIns="50800" bIns="50800" rtlCol="0" anchor="ctr"/>
            <a:lstStyle/>
            <a:p>
              <a:pPr marL="0" lvl="0" indent="0" algn="ctr">
                <a:lnSpc>
                  <a:spcPts val="2659"/>
                </a:lnSpc>
              </a:pPr>
              <a:endParaRPr/>
            </a:p>
          </p:txBody>
        </p:sp>
      </p:grpSp>
      <p:sp>
        <p:nvSpPr>
          <p:cNvPr id="28" name="TextBox 28"/>
          <p:cNvSpPr txBox="1"/>
          <p:nvPr/>
        </p:nvSpPr>
        <p:spPr>
          <a:xfrm>
            <a:off x="9144000" y="5977618"/>
            <a:ext cx="5617925" cy="1209600"/>
          </a:xfrm>
          <a:prstGeom prst="rect">
            <a:avLst/>
          </a:prstGeom>
        </p:spPr>
        <p:txBody>
          <a:bodyPr lIns="0" tIns="0" rIns="0" bIns="0" rtlCol="0" anchor="t">
            <a:spAutoFit/>
          </a:bodyPr>
          <a:lstStyle/>
          <a:p>
            <a:pPr algn="ctr">
              <a:lnSpc>
                <a:spcPts val="3154"/>
              </a:lnSpc>
            </a:pPr>
            <a:r>
              <a:rPr lang="en-US" sz="2252" b="1" u="sng">
                <a:solidFill>
                  <a:srgbClr val="FFFFFF"/>
                </a:solidFill>
                <a:latin typeface="Poppins Bold"/>
                <a:ea typeface="Poppins Bold"/>
                <a:cs typeface="Poppins Bold"/>
                <a:sym typeface="Poppins Bold"/>
              </a:rPr>
              <a:t>presnted by</a:t>
            </a:r>
          </a:p>
          <a:p>
            <a:pPr marL="0" lvl="0" indent="0" algn="ctr">
              <a:lnSpc>
                <a:spcPts val="3154"/>
              </a:lnSpc>
            </a:pPr>
            <a:r>
              <a:rPr lang="en-US" sz="2252">
                <a:solidFill>
                  <a:srgbClr val="FFFFFF"/>
                </a:solidFill>
                <a:latin typeface="Poppins"/>
                <a:ea typeface="Poppins"/>
                <a:cs typeface="Poppins"/>
                <a:sym typeface="Poppins"/>
              </a:rPr>
              <a:t>T.Navadeep-CDS/2025/1852 | B.Venkateswara Reddy-CDS/2025/1826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7619B"/>
        </a:solidFill>
        <a:effectLst/>
      </p:bgPr>
    </p:bg>
    <p:spTree>
      <p:nvGrpSpPr>
        <p:cNvPr id="1" name=""/>
        <p:cNvGrpSpPr/>
        <p:nvPr/>
      </p:nvGrpSpPr>
      <p:grpSpPr>
        <a:xfrm>
          <a:off x="0" y="0"/>
          <a:ext cx="0" cy="0"/>
          <a:chOff x="0" y="0"/>
          <a:chExt cx="0" cy="0"/>
        </a:xfrm>
      </p:grpSpPr>
      <p:grpSp>
        <p:nvGrpSpPr>
          <p:cNvPr id="2" name="Group 2"/>
          <p:cNvGrpSpPr/>
          <p:nvPr/>
        </p:nvGrpSpPr>
        <p:grpSpPr>
          <a:xfrm>
            <a:off x="1028700" y="4631871"/>
            <a:ext cx="16230600" cy="4626429"/>
            <a:chOff x="0" y="0"/>
            <a:chExt cx="2514545" cy="716755"/>
          </a:xfrm>
        </p:grpSpPr>
        <p:sp>
          <p:nvSpPr>
            <p:cNvPr id="3" name="Freeform 3"/>
            <p:cNvSpPr/>
            <p:nvPr/>
          </p:nvSpPr>
          <p:spPr>
            <a:xfrm>
              <a:off x="0" y="0"/>
              <a:ext cx="2514545" cy="716755"/>
            </a:xfrm>
            <a:custGeom>
              <a:avLst/>
              <a:gdLst/>
              <a:ahLst/>
              <a:cxnLst/>
              <a:rect l="l" t="t" r="r" b="b"/>
              <a:pathLst>
                <a:path w="2514545" h="716755">
                  <a:moveTo>
                    <a:pt x="0" y="0"/>
                  </a:moveTo>
                  <a:lnTo>
                    <a:pt x="2514545" y="0"/>
                  </a:lnTo>
                  <a:lnTo>
                    <a:pt x="2514545" y="716755"/>
                  </a:lnTo>
                  <a:lnTo>
                    <a:pt x="0" y="716755"/>
                  </a:lnTo>
                  <a:close/>
                </a:path>
              </a:pathLst>
            </a:custGeom>
            <a:blipFill>
              <a:blip r:embed="rId2"/>
              <a:stretch>
                <a:fillRect t="-49984" b="-49984"/>
              </a:stretch>
            </a:blipFill>
          </p:spPr>
        </p:sp>
      </p:grpSp>
      <p:sp>
        <p:nvSpPr>
          <p:cNvPr id="4" name="TextBox 4"/>
          <p:cNvSpPr txBox="1"/>
          <p:nvPr/>
        </p:nvSpPr>
        <p:spPr>
          <a:xfrm>
            <a:off x="1028700" y="2351496"/>
            <a:ext cx="8115300" cy="2024336"/>
          </a:xfrm>
          <a:prstGeom prst="rect">
            <a:avLst/>
          </a:prstGeom>
        </p:spPr>
        <p:txBody>
          <a:bodyPr lIns="0" tIns="0" rIns="0" bIns="0" rtlCol="0" anchor="t">
            <a:spAutoFit/>
          </a:bodyPr>
          <a:lstStyle/>
          <a:p>
            <a:pPr marL="0" lvl="0" indent="0" algn="l">
              <a:lnSpc>
                <a:spcPts val="7904"/>
              </a:lnSpc>
            </a:pPr>
            <a:r>
              <a:rPr lang="en-US" sz="6995" b="1">
                <a:solidFill>
                  <a:srgbClr val="FFFFFF"/>
                </a:solidFill>
                <a:latin typeface="League Spartan"/>
                <a:ea typeface="League Spartan"/>
                <a:cs typeface="League Spartan"/>
                <a:sym typeface="League Spartan"/>
              </a:rPr>
              <a:t>PROJECT OVERVIEW</a:t>
            </a:r>
          </a:p>
        </p:txBody>
      </p:sp>
      <p:sp>
        <p:nvSpPr>
          <p:cNvPr id="5" name="Freeform 5"/>
          <p:cNvSpPr/>
          <p:nvPr/>
        </p:nvSpPr>
        <p:spPr>
          <a:xfrm flipH="1" flipV="1">
            <a:off x="0" y="0"/>
            <a:ext cx="3934056" cy="4114800"/>
          </a:xfrm>
          <a:custGeom>
            <a:avLst/>
            <a:gdLst/>
            <a:ahLst/>
            <a:cxnLst/>
            <a:rect l="l" t="t" r="r" b="b"/>
            <a:pathLst>
              <a:path w="3934056" h="4114800">
                <a:moveTo>
                  <a:pt x="3934056" y="4114800"/>
                </a:moveTo>
                <a:lnTo>
                  <a:pt x="0" y="4114800"/>
                </a:lnTo>
                <a:lnTo>
                  <a:pt x="0" y="0"/>
                </a:lnTo>
                <a:lnTo>
                  <a:pt x="3934056" y="0"/>
                </a:lnTo>
                <a:lnTo>
                  <a:pt x="3934056" y="4114800"/>
                </a:lnTo>
                <a:close/>
              </a:path>
            </a:pathLst>
          </a:custGeom>
          <a:blipFill>
            <a:blip>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794905" y="-704533"/>
            <a:ext cx="2761933" cy="276193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id="8" name="TextBox 8"/>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172123" y="-1380967"/>
            <a:ext cx="2761933" cy="276193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id="11" name="TextBox 11"/>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sp>
        <p:nvSpPr>
          <p:cNvPr id="12" name="TextBox 12"/>
          <p:cNvSpPr txBox="1"/>
          <p:nvPr/>
        </p:nvSpPr>
        <p:spPr>
          <a:xfrm>
            <a:off x="10096500" y="2394993"/>
            <a:ext cx="7162800" cy="1832336"/>
          </a:xfrm>
          <a:prstGeom prst="rect">
            <a:avLst/>
          </a:prstGeom>
        </p:spPr>
        <p:txBody>
          <a:bodyPr lIns="0" tIns="0" rIns="0" bIns="0" rtlCol="0" anchor="t">
            <a:spAutoFit/>
          </a:bodyPr>
          <a:lstStyle/>
          <a:p>
            <a:pPr marL="0" lvl="0" indent="0" algn="l">
              <a:lnSpc>
                <a:spcPts val="2430"/>
              </a:lnSpc>
            </a:pPr>
            <a:r>
              <a:rPr lang="en-US" sz="1735">
                <a:solidFill>
                  <a:srgbClr val="FFFFFF"/>
                </a:solidFill>
                <a:latin typeface="Poppins"/>
                <a:ea typeface="Poppins"/>
                <a:cs typeface="Poppins"/>
                <a:sym typeface="Poppins"/>
              </a:rPr>
              <a:t>A menu-driven C application designed to manage hospital resources and simulate patient transfers between facilities. The system supports comprehensive CRUD operations—adding, updating, deleting, and searching hospital records—with emphasis on efficient data handling and real-world hospital coordination.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7619B"/>
        </a:solidFill>
        <a:effectLst/>
      </p:bgPr>
    </p:bg>
    <p:spTree>
      <p:nvGrpSpPr>
        <p:cNvPr id="1" name=""/>
        <p:cNvGrpSpPr/>
        <p:nvPr/>
      </p:nvGrpSpPr>
      <p:grpSpPr>
        <a:xfrm>
          <a:off x="0" y="0"/>
          <a:ext cx="0" cy="0"/>
          <a:chOff x="0" y="0"/>
          <a:chExt cx="0" cy="0"/>
        </a:xfrm>
      </p:grpSpPr>
      <p:grpSp>
        <p:nvGrpSpPr>
          <p:cNvPr id="2" name="Group 2"/>
          <p:cNvGrpSpPr/>
          <p:nvPr/>
        </p:nvGrpSpPr>
        <p:grpSpPr>
          <a:xfrm>
            <a:off x="14041211" y="0"/>
            <a:ext cx="4256314" cy="10287000"/>
            <a:chOff x="0" y="0"/>
            <a:chExt cx="1121005" cy="2709333"/>
          </a:xfrm>
        </p:grpSpPr>
        <p:sp>
          <p:nvSpPr>
            <p:cNvPr id="3" name="Freeform 3"/>
            <p:cNvSpPr/>
            <p:nvPr/>
          </p:nvSpPr>
          <p:spPr>
            <a:xfrm>
              <a:off x="0" y="0"/>
              <a:ext cx="1121005" cy="2709333"/>
            </a:xfrm>
            <a:custGeom>
              <a:avLst/>
              <a:gdLst/>
              <a:ahLst/>
              <a:cxnLst/>
              <a:rect l="l" t="t" r="r" b="b"/>
              <a:pathLst>
                <a:path w="1121005" h="2709333">
                  <a:moveTo>
                    <a:pt x="0" y="0"/>
                  </a:moveTo>
                  <a:lnTo>
                    <a:pt x="1121005" y="0"/>
                  </a:lnTo>
                  <a:lnTo>
                    <a:pt x="1121005" y="2709333"/>
                  </a:lnTo>
                  <a:lnTo>
                    <a:pt x="0" y="2709333"/>
                  </a:lnTo>
                  <a:close/>
                </a:path>
              </a:pathLst>
            </a:custGeom>
            <a:solidFill>
              <a:srgbClr val="FFFFFF"/>
            </a:solidFill>
          </p:spPr>
        </p:sp>
        <p:sp>
          <p:nvSpPr>
            <p:cNvPr id="4" name="TextBox 4"/>
            <p:cNvSpPr txBox="1"/>
            <p:nvPr/>
          </p:nvSpPr>
          <p:spPr>
            <a:xfrm>
              <a:off x="0" y="-57150"/>
              <a:ext cx="1121005" cy="2766483"/>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10459535" y="1687286"/>
            <a:ext cx="6799765" cy="6912429"/>
            <a:chOff x="0" y="0"/>
            <a:chExt cx="1053461" cy="1070916"/>
          </a:xfrm>
        </p:grpSpPr>
        <p:sp>
          <p:nvSpPr>
            <p:cNvPr id="6" name="Freeform 6"/>
            <p:cNvSpPr/>
            <p:nvPr/>
          </p:nvSpPr>
          <p:spPr>
            <a:xfrm>
              <a:off x="0" y="0"/>
              <a:ext cx="1053461" cy="1070916"/>
            </a:xfrm>
            <a:custGeom>
              <a:avLst/>
              <a:gdLst/>
              <a:ahLst/>
              <a:cxnLst/>
              <a:rect l="l" t="t" r="r" b="b"/>
              <a:pathLst>
                <a:path w="1053461" h="1070916">
                  <a:moveTo>
                    <a:pt x="0" y="0"/>
                  </a:moveTo>
                  <a:lnTo>
                    <a:pt x="1053461" y="0"/>
                  </a:lnTo>
                  <a:lnTo>
                    <a:pt x="1053461" y="1070916"/>
                  </a:lnTo>
                  <a:lnTo>
                    <a:pt x="0" y="1070916"/>
                  </a:lnTo>
                  <a:close/>
                </a:path>
              </a:pathLst>
            </a:custGeom>
            <a:blipFill>
              <a:blip r:embed="rId2"/>
              <a:stretch>
                <a:fillRect l="-828" r="-828"/>
              </a:stretch>
            </a:blipFill>
          </p:spPr>
        </p:sp>
      </p:grpSp>
      <p:sp>
        <p:nvSpPr>
          <p:cNvPr id="7" name="Freeform 7"/>
          <p:cNvSpPr/>
          <p:nvPr/>
        </p:nvSpPr>
        <p:spPr>
          <a:xfrm flipH="1" flipV="1">
            <a:off x="0" y="0"/>
            <a:ext cx="3934056" cy="4114800"/>
          </a:xfrm>
          <a:custGeom>
            <a:avLst/>
            <a:gdLst/>
            <a:ahLst/>
            <a:cxnLst/>
            <a:rect l="l" t="t" r="r" b="b"/>
            <a:pathLst>
              <a:path w="3934056" h="4114800">
                <a:moveTo>
                  <a:pt x="3934056" y="4114800"/>
                </a:moveTo>
                <a:lnTo>
                  <a:pt x="0" y="4114800"/>
                </a:lnTo>
                <a:lnTo>
                  <a:pt x="0" y="0"/>
                </a:lnTo>
                <a:lnTo>
                  <a:pt x="3934056" y="0"/>
                </a:lnTo>
                <a:lnTo>
                  <a:pt x="3934056" y="4114800"/>
                </a:lnTo>
                <a:close/>
              </a:path>
            </a:pathLst>
          </a:custGeom>
          <a:blipFill>
            <a:blip>
              <a:extLst>
                <a:ext uri="{96DAC541-7B7A-43D3-8B79-37D633B846F1}">
                  <asvg:svgBlip xmlns:asvg="http://schemas.microsoft.com/office/drawing/2016/SVG/main" r:embed="rId3"/>
                </a:ext>
              </a:extLst>
            </a:blip>
            <a:stretch>
              <a:fillRect/>
            </a:stretch>
          </a:blipFill>
        </p:spPr>
      </p:sp>
      <p:grpSp>
        <p:nvGrpSpPr>
          <p:cNvPr id="8" name="Group 8"/>
          <p:cNvGrpSpPr/>
          <p:nvPr/>
        </p:nvGrpSpPr>
        <p:grpSpPr>
          <a:xfrm>
            <a:off x="-794905" y="-704533"/>
            <a:ext cx="2761933" cy="276193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id="10" name="TextBox 10"/>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1172123" y="-1380967"/>
            <a:ext cx="2761933" cy="276193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id="13" name="TextBox 13"/>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sp>
        <p:nvSpPr>
          <p:cNvPr id="14" name="TextBox 14"/>
          <p:cNvSpPr txBox="1"/>
          <p:nvPr/>
        </p:nvSpPr>
        <p:spPr>
          <a:xfrm>
            <a:off x="1028700" y="2917462"/>
            <a:ext cx="7032171" cy="2024336"/>
          </a:xfrm>
          <a:prstGeom prst="rect">
            <a:avLst/>
          </a:prstGeom>
        </p:spPr>
        <p:txBody>
          <a:bodyPr lIns="0" tIns="0" rIns="0" bIns="0" rtlCol="0" anchor="t">
            <a:spAutoFit/>
          </a:bodyPr>
          <a:lstStyle/>
          <a:p>
            <a:pPr marL="0" lvl="0" indent="0" algn="l">
              <a:lnSpc>
                <a:spcPts val="7904"/>
              </a:lnSpc>
            </a:pPr>
            <a:r>
              <a:rPr lang="en-US" sz="6995" b="1">
                <a:solidFill>
                  <a:srgbClr val="FFFFFF"/>
                </a:solidFill>
                <a:latin typeface="League Spartan"/>
                <a:ea typeface="League Spartan"/>
                <a:cs typeface="League Spartan"/>
                <a:sym typeface="League Spartan"/>
              </a:rPr>
              <a:t>PROJECT OBJECTIVES</a:t>
            </a:r>
          </a:p>
        </p:txBody>
      </p:sp>
      <p:sp>
        <p:nvSpPr>
          <p:cNvPr id="15" name="TextBox 15"/>
          <p:cNvSpPr txBox="1"/>
          <p:nvPr/>
        </p:nvSpPr>
        <p:spPr>
          <a:xfrm>
            <a:off x="1028700" y="5122017"/>
            <a:ext cx="7780634" cy="1035619"/>
          </a:xfrm>
          <a:prstGeom prst="rect">
            <a:avLst/>
          </a:prstGeom>
        </p:spPr>
        <p:txBody>
          <a:bodyPr lIns="0" tIns="0" rIns="0" bIns="0" rtlCol="0" anchor="t">
            <a:spAutoFit/>
          </a:bodyPr>
          <a:lstStyle/>
          <a:p>
            <a:pPr marL="0" lvl="0" indent="0" algn="l">
              <a:lnSpc>
                <a:spcPts val="2768"/>
              </a:lnSpc>
            </a:pPr>
            <a:r>
              <a:rPr lang="en-US" sz="1977">
                <a:solidFill>
                  <a:srgbClr val="FFFFFF"/>
                </a:solidFill>
                <a:latin typeface="Poppins"/>
                <a:ea typeface="Poppins"/>
                <a:cs typeface="Poppins"/>
                <a:sym typeface="Poppins"/>
              </a:rPr>
              <a:t>Implement CRUD operations using C programming</a:t>
            </a:r>
          </a:p>
          <a:p>
            <a:pPr marL="0" lvl="0" indent="0" algn="l">
              <a:lnSpc>
                <a:spcPts val="2768"/>
              </a:lnSpc>
            </a:pPr>
            <a:r>
              <a:rPr lang="en-US" sz="1977">
                <a:solidFill>
                  <a:srgbClr val="FFFFFF"/>
                </a:solidFill>
                <a:latin typeface="Poppins"/>
                <a:ea typeface="Poppins"/>
                <a:cs typeface="Poppins"/>
                <a:sym typeface="Poppins"/>
              </a:rPr>
              <a:t>Practice dynamic memory allocation with malloc() and free()</a:t>
            </a:r>
          </a:p>
          <a:p>
            <a:pPr marL="0" lvl="0" indent="0" algn="l">
              <a:lnSpc>
                <a:spcPts val="2768"/>
              </a:lnSpc>
            </a:pPr>
            <a:r>
              <a:rPr lang="en-US" sz="1977">
                <a:solidFill>
                  <a:srgbClr val="FFFFFF"/>
                </a:solidFill>
                <a:latin typeface="Poppins"/>
                <a:ea typeface="Poppins"/>
                <a:cs typeface="Poppins"/>
                <a:sym typeface="Poppins"/>
              </a:rPr>
              <a:t>Use structured data types (struct) effectively</a:t>
            </a:r>
          </a:p>
        </p:txBody>
      </p:sp>
      <p:sp>
        <p:nvSpPr>
          <p:cNvPr id="16" name="TextBox 16"/>
          <p:cNvSpPr txBox="1"/>
          <p:nvPr/>
        </p:nvSpPr>
        <p:spPr>
          <a:xfrm>
            <a:off x="1028700" y="6594037"/>
            <a:ext cx="8115300" cy="1035619"/>
          </a:xfrm>
          <a:prstGeom prst="rect">
            <a:avLst/>
          </a:prstGeom>
        </p:spPr>
        <p:txBody>
          <a:bodyPr lIns="0" tIns="0" rIns="0" bIns="0" rtlCol="0" anchor="t">
            <a:spAutoFit/>
          </a:bodyPr>
          <a:lstStyle/>
          <a:p>
            <a:pPr marL="0" lvl="0" indent="0" algn="l">
              <a:lnSpc>
                <a:spcPts val="2768"/>
              </a:lnSpc>
            </a:pPr>
            <a:r>
              <a:rPr lang="en-US" sz="1977">
                <a:solidFill>
                  <a:srgbClr val="FFFFFF"/>
                </a:solidFill>
                <a:latin typeface="Poppins"/>
                <a:ea typeface="Poppins"/>
                <a:cs typeface="Poppins"/>
                <a:sym typeface="Poppins"/>
              </a:rPr>
              <a:t>Build modular functions for maintainability and code reusability. Simulate hospital resource tracking and patient transfer basics to reflect real-world healthcare coordination scenarios.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7619B"/>
        </a:solidFill>
        <a:effectLst/>
      </p:bgPr>
    </p:bg>
    <p:spTree>
      <p:nvGrpSpPr>
        <p:cNvPr id="1" name=""/>
        <p:cNvGrpSpPr/>
        <p:nvPr/>
      </p:nvGrpSpPr>
      <p:grpSpPr>
        <a:xfrm>
          <a:off x="0" y="0"/>
          <a:ext cx="0" cy="0"/>
          <a:chOff x="0" y="0"/>
          <a:chExt cx="0" cy="0"/>
        </a:xfrm>
      </p:grpSpPr>
      <p:sp>
        <p:nvSpPr>
          <p:cNvPr id="2" name="TextBox 2"/>
          <p:cNvSpPr txBox="1"/>
          <p:nvPr/>
        </p:nvSpPr>
        <p:spPr>
          <a:xfrm>
            <a:off x="2116717" y="1411323"/>
            <a:ext cx="14054566" cy="1076278"/>
          </a:xfrm>
          <a:prstGeom prst="rect">
            <a:avLst/>
          </a:prstGeom>
        </p:spPr>
        <p:txBody>
          <a:bodyPr lIns="0" tIns="0" rIns="0" bIns="0" rtlCol="0" anchor="t">
            <a:spAutoFit/>
          </a:bodyPr>
          <a:lstStyle/>
          <a:p>
            <a:pPr marL="0" lvl="0" indent="0" algn="ctr">
              <a:lnSpc>
                <a:spcPts val="8469"/>
              </a:lnSpc>
            </a:pPr>
            <a:r>
              <a:rPr lang="en-US" sz="7494" b="1">
                <a:solidFill>
                  <a:srgbClr val="FFFFFF"/>
                </a:solidFill>
                <a:latin typeface="League Spartan"/>
                <a:ea typeface="League Spartan"/>
                <a:cs typeface="League Spartan"/>
                <a:sym typeface="League Spartan"/>
              </a:rPr>
              <a:t>KEY FEATURES</a:t>
            </a:r>
          </a:p>
        </p:txBody>
      </p:sp>
      <p:grpSp>
        <p:nvGrpSpPr>
          <p:cNvPr id="3" name="Group 3"/>
          <p:cNvGrpSpPr/>
          <p:nvPr/>
        </p:nvGrpSpPr>
        <p:grpSpPr>
          <a:xfrm>
            <a:off x="-1305354" y="-1279763"/>
            <a:ext cx="3227168" cy="3193978"/>
            <a:chOff x="0" y="0"/>
            <a:chExt cx="812800" cy="804441"/>
          </a:xfrm>
        </p:grpSpPr>
        <p:sp>
          <p:nvSpPr>
            <p:cNvPr id="4" name="Freeform 4"/>
            <p:cNvSpPr/>
            <p:nvPr/>
          </p:nvSpPr>
          <p:spPr>
            <a:xfrm>
              <a:off x="0" y="0"/>
              <a:ext cx="812800" cy="804441"/>
            </a:xfrm>
            <a:custGeom>
              <a:avLst/>
              <a:gdLst/>
              <a:ahLst/>
              <a:cxnLst/>
              <a:rect l="l" t="t" r="r" b="b"/>
              <a:pathLst>
                <a:path w="812800" h="804441">
                  <a:moveTo>
                    <a:pt x="406400" y="0"/>
                  </a:moveTo>
                  <a:cubicBezTo>
                    <a:pt x="181951" y="0"/>
                    <a:pt x="0" y="180080"/>
                    <a:pt x="0" y="402220"/>
                  </a:cubicBezTo>
                  <a:cubicBezTo>
                    <a:pt x="0" y="624360"/>
                    <a:pt x="181951" y="804441"/>
                    <a:pt x="406400" y="804441"/>
                  </a:cubicBezTo>
                  <a:cubicBezTo>
                    <a:pt x="630849" y="804441"/>
                    <a:pt x="812800" y="624360"/>
                    <a:pt x="812800" y="402220"/>
                  </a:cubicBezTo>
                  <a:cubicBezTo>
                    <a:pt x="812800" y="180080"/>
                    <a:pt x="630849" y="0"/>
                    <a:pt x="406400" y="0"/>
                  </a:cubicBezTo>
                  <a:close/>
                </a:path>
              </a:pathLst>
            </a:custGeom>
            <a:ln w="666750" cap="sq">
              <a:solidFill>
                <a:srgbClr val="FFFFFF"/>
              </a:solidFill>
              <a:prstDash val="solid"/>
              <a:miter/>
            </a:ln>
          </p:spPr>
        </p:sp>
        <p:sp>
          <p:nvSpPr>
            <p:cNvPr id="5" name="TextBox 5"/>
            <p:cNvSpPr txBox="1"/>
            <p:nvPr/>
          </p:nvSpPr>
          <p:spPr>
            <a:xfrm>
              <a:off x="76200" y="18266"/>
              <a:ext cx="660400" cy="710758"/>
            </a:xfrm>
            <a:prstGeom prst="rect">
              <a:avLst/>
            </a:prstGeom>
          </p:spPr>
          <p:txBody>
            <a:bodyPr lIns="50800" tIns="50800" rIns="50800" bIns="50800" rtlCol="0" anchor="ctr"/>
            <a:lstStyle/>
            <a:p>
              <a:pPr marL="0" lvl="0" indent="0" algn="ctr">
                <a:lnSpc>
                  <a:spcPts val="2659"/>
                </a:lnSpc>
              </a:pPr>
              <a:endParaRPr/>
            </a:p>
          </p:txBody>
        </p:sp>
      </p:grpSp>
      <p:grpSp>
        <p:nvGrpSpPr>
          <p:cNvPr id="6" name="Group 6"/>
          <p:cNvGrpSpPr/>
          <p:nvPr/>
        </p:nvGrpSpPr>
        <p:grpSpPr>
          <a:xfrm>
            <a:off x="16361783" y="-1273067"/>
            <a:ext cx="3227168" cy="3193978"/>
            <a:chOff x="0" y="0"/>
            <a:chExt cx="812800" cy="804441"/>
          </a:xfrm>
        </p:grpSpPr>
        <p:sp>
          <p:nvSpPr>
            <p:cNvPr id="7" name="Freeform 7"/>
            <p:cNvSpPr/>
            <p:nvPr/>
          </p:nvSpPr>
          <p:spPr>
            <a:xfrm>
              <a:off x="0" y="0"/>
              <a:ext cx="812800" cy="804441"/>
            </a:xfrm>
            <a:custGeom>
              <a:avLst/>
              <a:gdLst/>
              <a:ahLst/>
              <a:cxnLst/>
              <a:rect l="l" t="t" r="r" b="b"/>
              <a:pathLst>
                <a:path w="812800" h="804441">
                  <a:moveTo>
                    <a:pt x="406400" y="0"/>
                  </a:moveTo>
                  <a:cubicBezTo>
                    <a:pt x="181951" y="0"/>
                    <a:pt x="0" y="180080"/>
                    <a:pt x="0" y="402220"/>
                  </a:cubicBezTo>
                  <a:cubicBezTo>
                    <a:pt x="0" y="624360"/>
                    <a:pt x="181951" y="804441"/>
                    <a:pt x="406400" y="804441"/>
                  </a:cubicBezTo>
                  <a:cubicBezTo>
                    <a:pt x="630849" y="804441"/>
                    <a:pt x="812800" y="624360"/>
                    <a:pt x="812800" y="402220"/>
                  </a:cubicBezTo>
                  <a:cubicBezTo>
                    <a:pt x="812800" y="180080"/>
                    <a:pt x="630849" y="0"/>
                    <a:pt x="406400" y="0"/>
                  </a:cubicBezTo>
                  <a:close/>
                </a:path>
              </a:pathLst>
            </a:custGeom>
            <a:ln w="666750" cap="sq">
              <a:solidFill>
                <a:srgbClr val="FFFFFF"/>
              </a:solidFill>
              <a:prstDash val="solid"/>
              <a:miter/>
            </a:ln>
          </p:spPr>
        </p:sp>
        <p:sp>
          <p:nvSpPr>
            <p:cNvPr id="8" name="TextBox 8"/>
            <p:cNvSpPr txBox="1"/>
            <p:nvPr/>
          </p:nvSpPr>
          <p:spPr>
            <a:xfrm>
              <a:off x="76200" y="18266"/>
              <a:ext cx="660400" cy="710758"/>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028700" y="3467841"/>
            <a:ext cx="5237679" cy="3611696"/>
            <a:chOff x="0" y="0"/>
            <a:chExt cx="1379471" cy="951229"/>
          </a:xfrm>
        </p:grpSpPr>
        <p:sp>
          <p:nvSpPr>
            <p:cNvPr id="10" name="Freeform 10"/>
            <p:cNvSpPr/>
            <p:nvPr/>
          </p:nvSpPr>
          <p:spPr>
            <a:xfrm>
              <a:off x="0" y="0"/>
              <a:ext cx="1379471" cy="951229"/>
            </a:xfrm>
            <a:custGeom>
              <a:avLst/>
              <a:gdLst/>
              <a:ahLst/>
              <a:cxnLst/>
              <a:rect l="l" t="t" r="r" b="b"/>
              <a:pathLst>
                <a:path w="1379471" h="951229">
                  <a:moveTo>
                    <a:pt x="75384" y="0"/>
                  </a:moveTo>
                  <a:lnTo>
                    <a:pt x="1304087" y="0"/>
                  </a:lnTo>
                  <a:cubicBezTo>
                    <a:pt x="1324080" y="0"/>
                    <a:pt x="1343254" y="7942"/>
                    <a:pt x="1357392" y="22080"/>
                  </a:cubicBezTo>
                  <a:cubicBezTo>
                    <a:pt x="1371529" y="36217"/>
                    <a:pt x="1379471" y="55391"/>
                    <a:pt x="1379471" y="75384"/>
                  </a:cubicBezTo>
                  <a:lnTo>
                    <a:pt x="1379471" y="875844"/>
                  </a:lnTo>
                  <a:cubicBezTo>
                    <a:pt x="1379471" y="917478"/>
                    <a:pt x="1345720" y="951229"/>
                    <a:pt x="1304087" y="951229"/>
                  </a:cubicBezTo>
                  <a:lnTo>
                    <a:pt x="75384" y="951229"/>
                  </a:lnTo>
                  <a:cubicBezTo>
                    <a:pt x="33751" y="951229"/>
                    <a:pt x="0" y="917478"/>
                    <a:pt x="0" y="875844"/>
                  </a:cubicBezTo>
                  <a:lnTo>
                    <a:pt x="0" y="75384"/>
                  </a:lnTo>
                  <a:cubicBezTo>
                    <a:pt x="0" y="33751"/>
                    <a:pt x="33751" y="0"/>
                    <a:pt x="75384" y="0"/>
                  </a:cubicBezTo>
                  <a:close/>
                </a:path>
              </a:pathLst>
            </a:custGeom>
            <a:solidFill>
              <a:srgbClr val="004369"/>
            </a:solidFill>
          </p:spPr>
        </p:sp>
        <p:sp>
          <p:nvSpPr>
            <p:cNvPr id="11" name="TextBox 11"/>
            <p:cNvSpPr txBox="1"/>
            <p:nvPr/>
          </p:nvSpPr>
          <p:spPr>
            <a:xfrm>
              <a:off x="0" y="-57150"/>
              <a:ext cx="1379471" cy="1008379"/>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6526171" y="3467841"/>
            <a:ext cx="5237679" cy="3611696"/>
            <a:chOff x="0" y="0"/>
            <a:chExt cx="1379471" cy="951229"/>
          </a:xfrm>
        </p:grpSpPr>
        <p:sp>
          <p:nvSpPr>
            <p:cNvPr id="13" name="Freeform 13"/>
            <p:cNvSpPr/>
            <p:nvPr/>
          </p:nvSpPr>
          <p:spPr>
            <a:xfrm>
              <a:off x="0" y="0"/>
              <a:ext cx="1379471" cy="951229"/>
            </a:xfrm>
            <a:custGeom>
              <a:avLst/>
              <a:gdLst/>
              <a:ahLst/>
              <a:cxnLst/>
              <a:rect l="l" t="t" r="r" b="b"/>
              <a:pathLst>
                <a:path w="1379471" h="951229">
                  <a:moveTo>
                    <a:pt x="75384" y="0"/>
                  </a:moveTo>
                  <a:lnTo>
                    <a:pt x="1304087" y="0"/>
                  </a:lnTo>
                  <a:cubicBezTo>
                    <a:pt x="1324080" y="0"/>
                    <a:pt x="1343254" y="7942"/>
                    <a:pt x="1357392" y="22080"/>
                  </a:cubicBezTo>
                  <a:cubicBezTo>
                    <a:pt x="1371529" y="36217"/>
                    <a:pt x="1379471" y="55391"/>
                    <a:pt x="1379471" y="75384"/>
                  </a:cubicBezTo>
                  <a:lnTo>
                    <a:pt x="1379471" y="875844"/>
                  </a:lnTo>
                  <a:cubicBezTo>
                    <a:pt x="1379471" y="917478"/>
                    <a:pt x="1345720" y="951229"/>
                    <a:pt x="1304087" y="951229"/>
                  </a:cubicBezTo>
                  <a:lnTo>
                    <a:pt x="75384" y="951229"/>
                  </a:lnTo>
                  <a:cubicBezTo>
                    <a:pt x="33751" y="951229"/>
                    <a:pt x="0" y="917478"/>
                    <a:pt x="0" y="875844"/>
                  </a:cubicBezTo>
                  <a:lnTo>
                    <a:pt x="0" y="75384"/>
                  </a:lnTo>
                  <a:cubicBezTo>
                    <a:pt x="0" y="33751"/>
                    <a:pt x="33751" y="0"/>
                    <a:pt x="75384" y="0"/>
                  </a:cubicBezTo>
                  <a:close/>
                </a:path>
              </a:pathLst>
            </a:custGeom>
            <a:solidFill>
              <a:srgbClr val="004369"/>
            </a:solidFill>
          </p:spPr>
        </p:sp>
        <p:sp>
          <p:nvSpPr>
            <p:cNvPr id="14" name="TextBox 14"/>
            <p:cNvSpPr txBox="1"/>
            <p:nvPr/>
          </p:nvSpPr>
          <p:spPr>
            <a:xfrm>
              <a:off x="0" y="-57150"/>
              <a:ext cx="1379471" cy="1008379"/>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12021621" y="3467841"/>
            <a:ext cx="5237679" cy="3611696"/>
            <a:chOff x="0" y="0"/>
            <a:chExt cx="1379471" cy="951229"/>
          </a:xfrm>
        </p:grpSpPr>
        <p:sp>
          <p:nvSpPr>
            <p:cNvPr id="16" name="Freeform 16"/>
            <p:cNvSpPr/>
            <p:nvPr/>
          </p:nvSpPr>
          <p:spPr>
            <a:xfrm>
              <a:off x="0" y="0"/>
              <a:ext cx="1379471" cy="951229"/>
            </a:xfrm>
            <a:custGeom>
              <a:avLst/>
              <a:gdLst/>
              <a:ahLst/>
              <a:cxnLst/>
              <a:rect l="l" t="t" r="r" b="b"/>
              <a:pathLst>
                <a:path w="1379471" h="951229">
                  <a:moveTo>
                    <a:pt x="75384" y="0"/>
                  </a:moveTo>
                  <a:lnTo>
                    <a:pt x="1304087" y="0"/>
                  </a:lnTo>
                  <a:cubicBezTo>
                    <a:pt x="1324080" y="0"/>
                    <a:pt x="1343254" y="7942"/>
                    <a:pt x="1357392" y="22080"/>
                  </a:cubicBezTo>
                  <a:cubicBezTo>
                    <a:pt x="1371529" y="36217"/>
                    <a:pt x="1379471" y="55391"/>
                    <a:pt x="1379471" y="75384"/>
                  </a:cubicBezTo>
                  <a:lnTo>
                    <a:pt x="1379471" y="875844"/>
                  </a:lnTo>
                  <a:cubicBezTo>
                    <a:pt x="1379471" y="917478"/>
                    <a:pt x="1345720" y="951229"/>
                    <a:pt x="1304087" y="951229"/>
                  </a:cubicBezTo>
                  <a:lnTo>
                    <a:pt x="75384" y="951229"/>
                  </a:lnTo>
                  <a:cubicBezTo>
                    <a:pt x="33751" y="951229"/>
                    <a:pt x="0" y="917478"/>
                    <a:pt x="0" y="875844"/>
                  </a:cubicBezTo>
                  <a:lnTo>
                    <a:pt x="0" y="75384"/>
                  </a:lnTo>
                  <a:cubicBezTo>
                    <a:pt x="0" y="33751"/>
                    <a:pt x="33751" y="0"/>
                    <a:pt x="75384" y="0"/>
                  </a:cubicBezTo>
                  <a:close/>
                </a:path>
              </a:pathLst>
            </a:custGeom>
            <a:solidFill>
              <a:srgbClr val="004369"/>
            </a:solidFill>
          </p:spPr>
        </p:sp>
        <p:sp>
          <p:nvSpPr>
            <p:cNvPr id="17" name="TextBox 17"/>
            <p:cNvSpPr txBox="1"/>
            <p:nvPr/>
          </p:nvSpPr>
          <p:spPr>
            <a:xfrm>
              <a:off x="0" y="-57150"/>
              <a:ext cx="1379471" cy="1008379"/>
            </a:xfrm>
            <a:prstGeom prst="rect">
              <a:avLst/>
            </a:prstGeom>
          </p:spPr>
          <p:txBody>
            <a:bodyPr lIns="50800" tIns="50800" rIns="50800" bIns="50800" rtlCol="0" anchor="ctr"/>
            <a:lstStyle/>
            <a:p>
              <a:pPr marL="0" lvl="0" indent="0" algn="ctr">
                <a:lnSpc>
                  <a:spcPts val="2659"/>
                </a:lnSpc>
              </a:pPr>
              <a:endParaRPr/>
            </a:p>
          </p:txBody>
        </p:sp>
      </p:grpSp>
      <p:sp>
        <p:nvSpPr>
          <p:cNvPr id="18" name="TextBox 18"/>
          <p:cNvSpPr txBox="1"/>
          <p:nvPr/>
        </p:nvSpPr>
        <p:spPr>
          <a:xfrm>
            <a:off x="3847913" y="7768590"/>
            <a:ext cx="10592174" cy="1090535"/>
          </a:xfrm>
          <a:prstGeom prst="rect">
            <a:avLst/>
          </a:prstGeom>
        </p:spPr>
        <p:txBody>
          <a:bodyPr lIns="0" tIns="0" rIns="0" bIns="0" rtlCol="0" anchor="t">
            <a:spAutoFit/>
          </a:bodyPr>
          <a:lstStyle/>
          <a:p>
            <a:pPr marL="0" lvl="0" indent="0" algn="ctr">
              <a:lnSpc>
                <a:spcPts val="2891"/>
              </a:lnSpc>
            </a:pPr>
            <a:r>
              <a:rPr lang="en-US" sz="2065">
                <a:solidFill>
                  <a:srgbClr val="FFFFFF"/>
                </a:solidFill>
                <a:latin typeface="Poppins"/>
                <a:ea typeface="Poppins"/>
                <a:cs typeface="Poppins"/>
                <a:sym typeface="Poppins"/>
              </a:rPr>
              <a:t>Our system leverages an efficient linked list data structure for flexible hospital record management, enabling dynamic operations with safe memory handling through proper malloc() and free() implementations.</a:t>
            </a:r>
          </a:p>
        </p:txBody>
      </p:sp>
      <p:sp>
        <p:nvSpPr>
          <p:cNvPr id="19" name="TextBox 19"/>
          <p:cNvSpPr txBox="1"/>
          <p:nvPr/>
        </p:nvSpPr>
        <p:spPr>
          <a:xfrm>
            <a:off x="1885808" y="5095875"/>
            <a:ext cx="3523464" cy="1574280"/>
          </a:xfrm>
          <a:prstGeom prst="rect">
            <a:avLst/>
          </a:prstGeom>
        </p:spPr>
        <p:txBody>
          <a:bodyPr lIns="0" tIns="0" rIns="0" bIns="0" rtlCol="0" anchor="t">
            <a:spAutoFit/>
          </a:bodyPr>
          <a:lstStyle/>
          <a:p>
            <a:pPr marL="0" lvl="0" indent="0" algn="ctr">
              <a:lnSpc>
                <a:spcPts val="2478"/>
              </a:lnSpc>
            </a:pPr>
            <a:r>
              <a:rPr lang="en-US" sz="1770">
                <a:solidFill>
                  <a:srgbClr val="FFFFFF"/>
                </a:solidFill>
                <a:latin typeface="Poppins"/>
                <a:ea typeface="Poppins"/>
                <a:cs typeface="Poppins"/>
                <a:sym typeface="Poppins"/>
              </a:rPr>
              <a:t>Add new hospital records dynamically with automatic memory allocation. Search hospitals instantly by unique ID for quick access.</a:t>
            </a:r>
          </a:p>
        </p:txBody>
      </p:sp>
      <p:sp>
        <p:nvSpPr>
          <p:cNvPr id="20" name="TextBox 20"/>
          <p:cNvSpPr txBox="1"/>
          <p:nvPr/>
        </p:nvSpPr>
        <p:spPr>
          <a:xfrm>
            <a:off x="7382268" y="5095875"/>
            <a:ext cx="3523464" cy="1574280"/>
          </a:xfrm>
          <a:prstGeom prst="rect">
            <a:avLst/>
          </a:prstGeom>
        </p:spPr>
        <p:txBody>
          <a:bodyPr lIns="0" tIns="0" rIns="0" bIns="0" rtlCol="0" anchor="t">
            <a:spAutoFit/>
          </a:bodyPr>
          <a:lstStyle/>
          <a:p>
            <a:pPr marL="0" lvl="0" indent="0" algn="ctr">
              <a:lnSpc>
                <a:spcPts val="2478"/>
              </a:lnSpc>
            </a:pPr>
            <a:r>
              <a:rPr lang="en-US" sz="1770">
                <a:solidFill>
                  <a:srgbClr val="FFFFFF"/>
                </a:solidFill>
                <a:latin typeface="Poppins"/>
                <a:ea typeface="Poppins"/>
                <a:cs typeface="Poppins"/>
                <a:sym typeface="Poppins"/>
              </a:rPr>
              <a:t>Update hospital details including name and available beds. Delete records safely with proper pointer adjustment and memory cleanup.</a:t>
            </a:r>
          </a:p>
        </p:txBody>
      </p:sp>
      <p:sp>
        <p:nvSpPr>
          <p:cNvPr id="21" name="TextBox 21"/>
          <p:cNvSpPr txBox="1"/>
          <p:nvPr/>
        </p:nvSpPr>
        <p:spPr>
          <a:xfrm>
            <a:off x="12878728" y="5095875"/>
            <a:ext cx="3523464" cy="1574280"/>
          </a:xfrm>
          <a:prstGeom prst="rect">
            <a:avLst/>
          </a:prstGeom>
        </p:spPr>
        <p:txBody>
          <a:bodyPr lIns="0" tIns="0" rIns="0" bIns="0" rtlCol="0" anchor="t">
            <a:spAutoFit/>
          </a:bodyPr>
          <a:lstStyle/>
          <a:p>
            <a:pPr marL="0" lvl="0" indent="0" algn="ctr">
              <a:lnSpc>
                <a:spcPts val="2478"/>
              </a:lnSpc>
            </a:pPr>
            <a:r>
              <a:rPr lang="en-US" sz="1770">
                <a:solidFill>
                  <a:srgbClr val="FFFFFF"/>
                </a:solidFill>
                <a:latin typeface="Poppins"/>
                <a:ea typeface="Poppins"/>
                <a:cs typeface="Poppins"/>
                <a:sym typeface="Poppins"/>
              </a:rPr>
              <a:t>Display complete hospital list with real-time data. Track bed availability and resource status across all registered hospitals.</a:t>
            </a:r>
          </a:p>
        </p:txBody>
      </p:sp>
      <p:sp>
        <p:nvSpPr>
          <p:cNvPr id="22" name="TextBox 22"/>
          <p:cNvSpPr txBox="1"/>
          <p:nvPr/>
        </p:nvSpPr>
        <p:spPr>
          <a:xfrm>
            <a:off x="1955680" y="3952240"/>
            <a:ext cx="3383719" cy="304152"/>
          </a:xfrm>
          <a:prstGeom prst="rect">
            <a:avLst/>
          </a:prstGeom>
        </p:spPr>
        <p:txBody>
          <a:bodyPr lIns="0" tIns="0" rIns="0" bIns="0" rtlCol="0" anchor="t">
            <a:spAutoFit/>
          </a:bodyPr>
          <a:lstStyle/>
          <a:p>
            <a:pPr marL="0" lvl="0" indent="0" algn="ctr">
              <a:lnSpc>
                <a:spcPts val="2339"/>
              </a:lnSpc>
            </a:pPr>
            <a:r>
              <a:rPr lang="en-US" sz="2070" b="1">
                <a:solidFill>
                  <a:srgbClr val="FFFFFF"/>
                </a:solidFill>
                <a:latin typeface="League Spartan"/>
                <a:ea typeface="League Spartan"/>
                <a:cs typeface="League Spartan"/>
                <a:sym typeface="League Spartan"/>
              </a:rPr>
              <a:t>ADD &amp; SEARCH</a:t>
            </a:r>
          </a:p>
        </p:txBody>
      </p:sp>
      <p:sp>
        <p:nvSpPr>
          <p:cNvPr id="23" name="TextBox 23"/>
          <p:cNvSpPr txBox="1"/>
          <p:nvPr/>
        </p:nvSpPr>
        <p:spPr>
          <a:xfrm>
            <a:off x="13678375" y="4043362"/>
            <a:ext cx="1919092" cy="478346"/>
          </a:xfrm>
          <a:prstGeom prst="rect">
            <a:avLst/>
          </a:prstGeom>
        </p:spPr>
        <p:txBody>
          <a:bodyPr lIns="0" tIns="0" rIns="0" bIns="0" rtlCol="0" anchor="t">
            <a:spAutoFit/>
          </a:bodyPr>
          <a:lstStyle/>
          <a:p>
            <a:pPr marL="0" lvl="0" indent="0" algn="ctr">
              <a:lnSpc>
                <a:spcPts val="3898"/>
              </a:lnSpc>
            </a:pPr>
            <a:r>
              <a:rPr lang="en-US" sz="3450" b="1">
                <a:solidFill>
                  <a:srgbClr val="FFFFFF"/>
                </a:solidFill>
                <a:latin typeface="League Spartan"/>
                <a:ea typeface="League Spartan"/>
                <a:cs typeface="League Spartan"/>
                <a:sym typeface="League Spartan"/>
              </a:rPr>
              <a:t>DISPLAY</a:t>
            </a:r>
          </a:p>
        </p:txBody>
      </p:sp>
      <p:sp>
        <p:nvSpPr>
          <p:cNvPr id="24" name="TextBox 24"/>
          <p:cNvSpPr txBox="1"/>
          <p:nvPr/>
        </p:nvSpPr>
        <p:spPr>
          <a:xfrm>
            <a:off x="8184454" y="4043362"/>
            <a:ext cx="1919092" cy="478346"/>
          </a:xfrm>
          <a:prstGeom prst="rect">
            <a:avLst/>
          </a:prstGeom>
        </p:spPr>
        <p:txBody>
          <a:bodyPr lIns="0" tIns="0" rIns="0" bIns="0" rtlCol="0" anchor="t">
            <a:spAutoFit/>
          </a:bodyPr>
          <a:lstStyle/>
          <a:p>
            <a:pPr marL="0" lvl="0" indent="0" algn="ctr">
              <a:lnSpc>
                <a:spcPts val="3898"/>
              </a:lnSpc>
            </a:pPr>
            <a:r>
              <a:rPr lang="en-US" sz="3450" b="1">
                <a:solidFill>
                  <a:srgbClr val="FFFFFF"/>
                </a:solidFill>
                <a:latin typeface="League Spartan"/>
                <a:ea typeface="League Spartan"/>
                <a:cs typeface="League Spartan"/>
                <a:sym typeface="League Spartan"/>
              </a:rPr>
              <a:t>UPDATE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7619B"/>
        </a:solidFill>
        <a:effectLst/>
      </p:bgPr>
    </p:bg>
    <p:spTree>
      <p:nvGrpSpPr>
        <p:cNvPr id="1" name=""/>
        <p:cNvGrpSpPr/>
        <p:nvPr/>
      </p:nvGrpSpPr>
      <p:grpSpPr>
        <a:xfrm>
          <a:off x="0" y="0"/>
          <a:ext cx="0" cy="0"/>
          <a:chOff x="0" y="0"/>
          <a:chExt cx="0" cy="0"/>
        </a:xfrm>
      </p:grpSpPr>
      <p:sp>
        <p:nvSpPr>
          <p:cNvPr id="2" name="TextBox 2"/>
          <p:cNvSpPr txBox="1"/>
          <p:nvPr/>
        </p:nvSpPr>
        <p:spPr>
          <a:xfrm>
            <a:off x="1028700" y="2534385"/>
            <a:ext cx="11288049" cy="689834"/>
          </a:xfrm>
          <a:prstGeom prst="rect">
            <a:avLst/>
          </a:prstGeom>
        </p:spPr>
        <p:txBody>
          <a:bodyPr lIns="0" tIns="0" rIns="0" bIns="0" rtlCol="0" anchor="t">
            <a:spAutoFit/>
          </a:bodyPr>
          <a:lstStyle/>
          <a:p>
            <a:pPr marL="0" lvl="0" indent="0" algn="l">
              <a:lnSpc>
                <a:spcPts val="5355"/>
              </a:lnSpc>
            </a:pPr>
            <a:r>
              <a:rPr lang="en-US" sz="4739" b="1">
                <a:solidFill>
                  <a:srgbClr val="FFFFFF"/>
                </a:solidFill>
                <a:latin typeface="League Spartan"/>
                <a:ea typeface="League Spartan"/>
                <a:cs typeface="League Spartan"/>
                <a:sym typeface="League Spartan"/>
              </a:rPr>
              <a:t>SYSTEM DESIGN &amp; DATA STRUCTURE</a:t>
            </a:r>
          </a:p>
        </p:txBody>
      </p:sp>
      <p:grpSp>
        <p:nvGrpSpPr>
          <p:cNvPr id="3" name="Group 3"/>
          <p:cNvGrpSpPr/>
          <p:nvPr/>
        </p:nvGrpSpPr>
        <p:grpSpPr>
          <a:xfrm>
            <a:off x="12316749" y="1028700"/>
            <a:ext cx="5971251" cy="9258300"/>
            <a:chOff x="0" y="0"/>
            <a:chExt cx="925103" cy="1434353"/>
          </a:xfrm>
        </p:grpSpPr>
        <p:sp>
          <p:nvSpPr>
            <p:cNvPr id="4" name="Freeform 4"/>
            <p:cNvSpPr/>
            <p:nvPr/>
          </p:nvSpPr>
          <p:spPr>
            <a:xfrm>
              <a:off x="0" y="0"/>
              <a:ext cx="925103" cy="1434353"/>
            </a:xfrm>
            <a:custGeom>
              <a:avLst/>
              <a:gdLst/>
              <a:ahLst/>
              <a:cxnLst/>
              <a:rect l="l" t="t" r="r" b="b"/>
              <a:pathLst>
                <a:path w="925103" h="1434353">
                  <a:moveTo>
                    <a:pt x="0" y="0"/>
                  </a:moveTo>
                  <a:lnTo>
                    <a:pt x="925103" y="0"/>
                  </a:lnTo>
                  <a:lnTo>
                    <a:pt x="925103" y="1434353"/>
                  </a:lnTo>
                  <a:lnTo>
                    <a:pt x="0" y="1434353"/>
                  </a:lnTo>
                  <a:close/>
                </a:path>
              </a:pathLst>
            </a:custGeom>
            <a:blipFill>
              <a:blip r:embed="rId2"/>
              <a:stretch>
                <a:fillRect l="-2231" r="-2231"/>
              </a:stretch>
            </a:blipFill>
          </p:spPr>
        </p:sp>
      </p:grpSp>
      <p:grpSp>
        <p:nvGrpSpPr>
          <p:cNvPr id="5" name="Group 5"/>
          <p:cNvGrpSpPr/>
          <p:nvPr/>
        </p:nvGrpSpPr>
        <p:grpSpPr>
          <a:xfrm>
            <a:off x="-1305354" y="-1279763"/>
            <a:ext cx="3227168" cy="3193978"/>
            <a:chOff x="0" y="0"/>
            <a:chExt cx="812800" cy="804441"/>
          </a:xfrm>
        </p:grpSpPr>
        <p:sp>
          <p:nvSpPr>
            <p:cNvPr id="6" name="Freeform 6"/>
            <p:cNvSpPr/>
            <p:nvPr/>
          </p:nvSpPr>
          <p:spPr>
            <a:xfrm>
              <a:off x="0" y="0"/>
              <a:ext cx="812800" cy="804441"/>
            </a:xfrm>
            <a:custGeom>
              <a:avLst/>
              <a:gdLst/>
              <a:ahLst/>
              <a:cxnLst/>
              <a:rect l="l" t="t" r="r" b="b"/>
              <a:pathLst>
                <a:path w="812800" h="804441">
                  <a:moveTo>
                    <a:pt x="406400" y="0"/>
                  </a:moveTo>
                  <a:cubicBezTo>
                    <a:pt x="181951" y="0"/>
                    <a:pt x="0" y="180080"/>
                    <a:pt x="0" y="402220"/>
                  </a:cubicBezTo>
                  <a:cubicBezTo>
                    <a:pt x="0" y="624360"/>
                    <a:pt x="181951" y="804441"/>
                    <a:pt x="406400" y="804441"/>
                  </a:cubicBezTo>
                  <a:cubicBezTo>
                    <a:pt x="630849" y="804441"/>
                    <a:pt x="812800" y="624360"/>
                    <a:pt x="812800" y="402220"/>
                  </a:cubicBezTo>
                  <a:cubicBezTo>
                    <a:pt x="812800" y="180080"/>
                    <a:pt x="630849" y="0"/>
                    <a:pt x="406400" y="0"/>
                  </a:cubicBezTo>
                  <a:close/>
                </a:path>
              </a:pathLst>
            </a:custGeom>
            <a:ln w="666750" cap="sq">
              <a:solidFill>
                <a:srgbClr val="FFFFFF"/>
              </a:solidFill>
              <a:prstDash val="solid"/>
              <a:miter/>
            </a:ln>
          </p:spPr>
        </p:sp>
        <p:sp>
          <p:nvSpPr>
            <p:cNvPr id="7" name="TextBox 7"/>
            <p:cNvSpPr txBox="1"/>
            <p:nvPr/>
          </p:nvSpPr>
          <p:spPr>
            <a:xfrm>
              <a:off x="76200" y="18266"/>
              <a:ext cx="660400" cy="710758"/>
            </a:xfrm>
            <a:prstGeom prst="rect">
              <a:avLst/>
            </a:prstGeom>
          </p:spPr>
          <p:txBody>
            <a:bodyPr lIns="50800" tIns="50800" rIns="50800" bIns="50800" rtlCol="0" anchor="ctr"/>
            <a:lstStyle/>
            <a:p>
              <a:pPr marL="0" lvl="0" indent="0" algn="ctr">
                <a:lnSpc>
                  <a:spcPts val="2659"/>
                </a:lnSpc>
              </a:pPr>
              <a:endParaRPr/>
            </a:p>
          </p:txBody>
        </p:sp>
      </p:grpSp>
      <p:sp>
        <p:nvSpPr>
          <p:cNvPr id="8" name="TextBox 8"/>
          <p:cNvSpPr txBox="1"/>
          <p:nvPr/>
        </p:nvSpPr>
        <p:spPr>
          <a:xfrm>
            <a:off x="1028700" y="4006950"/>
            <a:ext cx="9876134" cy="1755820"/>
          </a:xfrm>
          <a:prstGeom prst="rect">
            <a:avLst/>
          </a:prstGeom>
        </p:spPr>
        <p:txBody>
          <a:bodyPr lIns="0" tIns="0" rIns="0" bIns="0" rtlCol="0" anchor="t">
            <a:spAutoFit/>
          </a:bodyPr>
          <a:lstStyle/>
          <a:p>
            <a:pPr marL="0" lvl="0" indent="0" algn="l">
              <a:lnSpc>
                <a:spcPts val="3497"/>
              </a:lnSpc>
            </a:pPr>
            <a:r>
              <a:rPr lang="en-US" sz="2498">
                <a:solidFill>
                  <a:srgbClr val="FFFFFF"/>
                </a:solidFill>
                <a:latin typeface="Poppins"/>
                <a:ea typeface="Poppins"/>
                <a:cs typeface="Poppins"/>
                <a:sym typeface="Poppins"/>
              </a:rPr>
              <a:t>The system uses a singly linked list to store hospital records dynamically. Each node in the list contains four key fields: Hospital ID (unique identifier), Hospital Name, Available Beds count, and a pointer to the next node in the sequence.</a:t>
            </a:r>
          </a:p>
        </p:txBody>
      </p:sp>
      <p:sp>
        <p:nvSpPr>
          <p:cNvPr id="9" name="TextBox 9"/>
          <p:cNvSpPr txBox="1"/>
          <p:nvPr/>
        </p:nvSpPr>
        <p:spPr>
          <a:xfrm>
            <a:off x="1028700" y="6350352"/>
            <a:ext cx="9876134" cy="2193970"/>
          </a:xfrm>
          <a:prstGeom prst="rect">
            <a:avLst/>
          </a:prstGeom>
        </p:spPr>
        <p:txBody>
          <a:bodyPr lIns="0" tIns="0" rIns="0" bIns="0" rtlCol="0" anchor="t">
            <a:spAutoFit/>
          </a:bodyPr>
          <a:lstStyle/>
          <a:p>
            <a:pPr marL="0" lvl="0" indent="0" algn="l">
              <a:lnSpc>
                <a:spcPts val="3497"/>
              </a:lnSpc>
            </a:pPr>
            <a:r>
              <a:rPr lang="en-US" sz="2498">
                <a:solidFill>
                  <a:srgbClr val="FFFFFF"/>
                </a:solidFill>
                <a:latin typeface="Poppins"/>
                <a:ea typeface="Poppins"/>
                <a:cs typeface="Poppins"/>
                <a:sym typeface="Poppins"/>
              </a:rPr>
              <a:t>Dynamic memory allocation using malloc() enables flexible record management, allowing hospitals to be added or removed at runtime. This structure ensures efficient memory usage and supports scalable data handling without predefined size limits.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7619B"/>
        </a:solidFill>
        <a:effectLst/>
      </p:bgPr>
    </p:bg>
    <p:spTree>
      <p:nvGrpSpPr>
        <p:cNvPr id="1" name=""/>
        <p:cNvGrpSpPr/>
        <p:nvPr/>
      </p:nvGrpSpPr>
      <p:grpSpPr>
        <a:xfrm>
          <a:off x="0" y="0"/>
          <a:ext cx="0" cy="0"/>
          <a:chOff x="0" y="0"/>
          <a:chExt cx="0" cy="0"/>
        </a:xfrm>
      </p:grpSpPr>
      <p:grpSp>
        <p:nvGrpSpPr>
          <p:cNvPr id="2" name="Group 2"/>
          <p:cNvGrpSpPr/>
          <p:nvPr/>
        </p:nvGrpSpPr>
        <p:grpSpPr>
          <a:xfrm>
            <a:off x="5605885" y="0"/>
            <a:ext cx="4513765" cy="4920297"/>
            <a:chOff x="0" y="0"/>
            <a:chExt cx="699300" cy="762283"/>
          </a:xfrm>
        </p:grpSpPr>
        <p:sp>
          <p:nvSpPr>
            <p:cNvPr id="3" name="Freeform 3"/>
            <p:cNvSpPr/>
            <p:nvPr/>
          </p:nvSpPr>
          <p:spPr>
            <a:xfrm>
              <a:off x="0" y="0"/>
              <a:ext cx="699300" cy="762283"/>
            </a:xfrm>
            <a:custGeom>
              <a:avLst/>
              <a:gdLst/>
              <a:ahLst/>
              <a:cxnLst/>
              <a:rect l="l" t="t" r="r" b="b"/>
              <a:pathLst>
                <a:path w="699300" h="762283">
                  <a:moveTo>
                    <a:pt x="0" y="0"/>
                  </a:moveTo>
                  <a:lnTo>
                    <a:pt x="699300" y="0"/>
                  </a:lnTo>
                  <a:lnTo>
                    <a:pt x="699300" y="762283"/>
                  </a:lnTo>
                  <a:lnTo>
                    <a:pt x="0" y="762283"/>
                  </a:lnTo>
                  <a:close/>
                </a:path>
              </a:pathLst>
            </a:custGeom>
            <a:blipFill>
              <a:blip r:embed="rId2"/>
              <a:stretch>
                <a:fillRect l="-4503" r="-4503"/>
              </a:stretch>
            </a:blipFill>
          </p:spPr>
        </p:sp>
      </p:grpSp>
      <p:grpSp>
        <p:nvGrpSpPr>
          <p:cNvPr id="4" name="Group 4"/>
          <p:cNvGrpSpPr/>
          <p:nvPr/>
        </p:nvGrpSpPr>
        <p:grpSpPr>
          <a:xfrm>
            <a:off x="1028700" y="0"/>
            <a:ext cx="4513765" cy="6177643"/>
            <a:chOff x="0" y="0"/>
            <a:chExt cx="699300" cy="957079"/>
          </a:xfrm>
        </p:grpSpPr>
        <p:sp>
          <p:nvSpPr>
            <p:cNvPr id="5" name="Freeform 5"/>
            <p:cNvSpPr/>
            <p:nvPr/>
          </p:nvSpPr>
          <p:spPr>
            <a:xfrm>
              <a:off x="0" y="0"/>
              <a:ext cx="699300" cy="957078"/>
            </a:xfrm>
            <a:custGeom>
              <a:avLst/>
              <a:gdLst/>
              <a:ahLst/>
              <a:cxnLst/>
              <a:rect l="l" t="t" r="r" b="b"/>
              <a:pathLst>
                <a:path w="699300" h="957078">
                  <a:moveTo>
                    <a:pt x="0" y="0"/>
                  </a:moveTo>
                  <a:lnTo>
                    <a:pt x="699300" y="0"/>
                  </a:lnTo>
                  <a:lnTo>
                    <a:pt x="699300" y="957078"/>
                  </a:lnTo>
                  <a:lnTo>
                    <a:pt x="0" y="957078"/>
                  </a:lnTo>
                  <a:close/>
                </a:path>
              </a:pathLst>
            </a:custGeom>
            <a:blipFill>
              <a:blip r:embed="rId3"/>
              <a:stretch>
                <a:fillRect l="-1066" r="-1066"/>
              </a:stretch>
            </a:blipFill>
          </p:spPr>
        </p:sp>
      </p:grpSp>
      <p:grpSp>
        <p:nvGrpSpPr>
          <p:cNvPr id="6" name="Group 6"/>
          <p:cNvGrpSpPr/>
          <p:nvPr/>
        </p:nvGrpSpPr>
        <p:grpSpPr>
          <a:xfrm>
            <a:off x="1028700" y="6249232"/>
            <a:ext cx="4513765" cy="3009068"/>
            <a:chOff x="0" y="0"/>
            <a:chExt cx="699300" cy="466183"/>
          </a:xfrm>
        </p:grpSpPr>
        <p:sp>
          <p:nvSpPr>
            <p:cNvPr id="7" name="Freeform 7"/>
            <p:cNvSpPr/>
            <p:nvPr/>
          </p:nvSpPr>
          <p:spPr>
            <a:xfrm>
              <a:off x="0" y="0"/>
              <a:ext cx="699300" cy="466183"/>
            </a:xfrm>
            <a:custGeom>
              <a:avLst/>
              <a:gdLst/>
              <a:ahLst/>
              <a:cxnLst/>
              <a:rect l="l" t="t" r="r" b="b"/>
              <a:pathLst>
                <a:path w="699300" h="466183">
                  <a:moveTo>
                    <a:pt x="0" y="0"/>
                  </a:moveTo>
                  <a:lnTo>
                    <a:pt x="699300" y="0"/>
                  </a:lnTo>
                  <a:lnTo>
                    <a:pt x="699300" y="466183"/>
                  </a:lnTo>
                  <a:lnTo>
                    <a:pt x="0" y="466183"/>
                  </a:lnTo>
                  <a:close/>
                </a:path>
              </a:pathLst>
            </a:custGeom>
            <a:blipFill>
              <a:blip r:embed="rId4"/>
              <a:stretch>
                <a:fillRect t="-533" b="-533"/>
              </a:stretch>
            </a:blipFill>
          </p:spPr>
        </p:sp>
      </p:grpSp>
      <p:sp>
        <p:nvSpPr>
          <p:cNvPr id="8" name="TextBox 8"/>
          <p:cNvSpPr txBox="1"/>
          <p:nvPr/>
        </p:nvSpPr>
        <p:spPr>
          <a:xfrm>
            <a:off x="10716986" y="3347403"/>
            <a:ext cx="6542314" cy="1474283"/>
          </a:xfrm>
          <a:prstGeom prst="rect">
            <a:avLst/>
          </a:prstGeom>
        </p:spPr>
        <p:txBody>
          <a:bodyPr lIns="0" tIns="0" rIns="0" bIns="0" rtlCol="0" anchor="t">
            <a:spAutoFit/>
          </a:bodyPr>
          <a:lstStyle/>
          <a:p>
            <a:pPr marL="0" lvl="0" indent="0" algn="l">
              <a:lnSpc>
                <a:spcPts val="5787"/>
              </a:lnSpc>
            </a:pPr>
            <a:r>
              <a:rPr lang="en-US" sz="5121" b="1">
                <a:solidFill>
                  <a:srgbClr val="FFFFFF"/>
                </a:solidFill>
                <a:latin typeface="League Spartan"/>
                <a:ea typeface="League Spartan"/>
                <a:cs typeface="League Spartan"/>
                <a:sym typeface="League Spartan"/>
              </a:rPr>
              <a:t>CRUD OPERATIONS</a:t>
            </a:r>
          </a:p>
          <a:p>
            <a:pPr marL="0" lvl="0" indent="0" algn="l">
              <a:lnSpc>
                <a:spcPts val="5787"/>
              </a:lnSpc>
            </a:pPr>
            <a:r>
              <a:rPr lang="en-US" sz="5121" b="1">
                <a:solidFill>
                  <a:srgbClr val="FFFFFF"/>
                </a:solidFill>
                <a:latin typeface="League Spartan"/>
                <a:ea typeface="League Spartan"/>
                <a:cs typeface="League Spartan"/>
                <a:sym typeface="League Spartan"/>
              </a:rPr>
              <a:t>EXPLAINED</a:t>
            </a:r>
          </a:p>
        </p:txBody>
      </p:sp>
      <p:sp>
        <p:nvSpPr>
          <p:cNvPr id="9" name="Freeform 9"/>
          <p:cNvSpPr/>
          <p:nvPr/>
        </p:nvSpPr>
        <p:spPr>
          <a:xfrm flipV="1">
            <a:off x="14377680" y="0"/>
            <a:ext cx="3934056" cy="4114800"/>
          </a:xfrm>
          <a:custGeom>
            <a:avLst/>
            <a:gdLst/>
            <a:ahLst/>
            <a:cxnLst/>
            <a:rect l="l" t="t" r="r" b="b"/>
            <a:pathLst>
              <a:path w="3934056" h="4114800">
                <a:moveTo>
                  <a:pt x="0" y="4114800"/>
                </a:moveTo>
                <a:lnTo>
                  <a:pt x="3934056" y="4114800"/>
                </a:lnTo>
                <a:lnTo>
                  <a:pt x="3934056" y="0"/>
                </a:lnTo>
                <a:lnTo>
                  <a:pt x="0" y="0"/>
                </a:lnTo>
                <a:lnTo>
                  <a:pt x="0" y="4114800"/>
                </a:lnTo>
                <a:close/>
              </a:path>
            </a:pathLst>
          </a:custGeom>
          <a:blipFill>
            <a:blip>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14963741" y="-1380967"/>
            <a:ext cx="2761933" cy="2761933"/>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id="12" name="TextBox 12"/>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grpSp>
        <p:nvGrpSpPr>
          <p:cNvPr id="13" name="Group 13"/>
          <p:cNvGrpSpPr/>
          <p:nvPr/>
        </p:nvGrpSpPr>
        <p:grpSpPr>
          <a:xfrm>
            <a:off x="16907033" y="-704533"/>
            <a:ext cx="2761933" cy="276193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id="15" name="TextBox 15"/>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sp>
        <p:nvSpPr>
          <p:cNvPr id="16" name="TextBox 16"/>
          <p:cNvSpPr txBox="1"/>
          <p:nvPr/>
        </p:nvSpPr>
        <p:spPr>
          <a:xfrm>
            <a:off x="7383166" y="5475802"/>
            <a:ext cx="9876134" cy="1118272"/>
          </a:xfrm>
          <a:prstGeom prst="rect">
            <a:avLst/>
          </a:prstGeom>
        </p:spPr>
        <p:txBody>
          <a:bodyPr lIns="0" tIns="0" rIns="0" bIns="0" rtlCol="0" anchor="t">
            <a:spAutoFit/>
          </a:bodyPr>
          <a:lstStyle/>
          <a:p>
            <a:pPr marL="0" lvl="0" indent="0" algn="l">
              <a:lnSpc>
                <a:spcPts val="2937"/>
              </a:lnSpc>
            </a:pPr>
            <a:r>
              <a:rPr lang="en-US" sz="2098">
                <a:solidFill>
                  <a:srgbClr val="FFFFFF"/>
                </a:solidFill>
                <a:latin typeface="Poppins"/>
                <a:ea typeface="Poppins"/>
                <a:cs typeface="Poppins"/>
                <a:sym typeface="Poppins"/>
              </a:rPr>
              <a:t>Create: Allocate memory using malloc(), input hospital data (ID, name, beds), insert new node at head of linked list. Read: Traverse the linked list sequentially, display all hospital records with their current data fields.</a:t>
            </a:r>
          </a:p>
        </p:txBody>
      </p:sp>
      <p:sp>
        <p:nvSpPr>
          <p:cNvPr id="17" name="TextBox 17"/>
          <p:cNvSpPr txBox="1"/>
          <p:nvPr/>
        </p:nvSpPr>
        <p:spPr>
          <a:xfrm>
            <a:off x="7383166" y="7326374"/>
            <a:ext cx="9876134" cy="1489747"/>
          </a:xfrm>
          <a:prstGeom prst="rect">
            <a:avLst/>
          </a:prstGeom>
        </p:spPr>
        <p:txBody>
          <a:bodyPr lIns="0" tIns="0" rIns="0" bIns="0" rtlCol="0" anchor="t">
            <a:spAutoFit/>
          </a:bodyPr>
          <a:lstStyle/>
          <a:p>
            <a:pPr marL="0" lvl="0" indent="0" algn="l">
              <a:lnSpc>
                <a:spcPts val="2937"/>
              </a:lnSpc>
            </a:pPr>
            <a:r>
              <a:rPr lang="en-US" sz="2098">
                <a:solidFill>
                  <a:srgbClr val="FFFFFF"/>
                </a:solidFill>
                <a:latin typeface="Poppins"/>
                <a:ea typeface="Poppins"/>
                <a:cs typeface="Poppins"/>
                <a:sym typeface="Poppins"/>
              </a:rPr>
              <a:t>Update: Search by hospital ID, modify name and bed count fields when found. Delete: Locate target node, track previous pointer, adjust links to bypass node, free allocated memory. Search: Linear traversal comparing IDs, return record or not found.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7619B"/>
        </a:solidFill>
        <a:effectLst/>
      </p:bgPr>
    </p:bg>
    <p:spTree>
      <p:nvGrpSpPr>
        <p:cNvPr id="1" name=""/>
        <p:cNvGrpSpPr/>
        <p:nvPr/>
      </p:nvGrpSpPr>
      <p:grpSpPr>
        <a:xfrm>
          <a:off x="0" y="0"/>
          <a:ext cx="0" cy="0"/>
          <a:chOff x="0" y="0"/>
          <a:chExt cx="0" cy="0"/>
        </a:xfrm>
      </p:grpSpPr>
      <p:grpSp>
        <p:nvGrpSpPr>
          <p:cNvPr id="2" name="Group 2"/>
          <p:cNvGrpSpPr/>
          <p:nvPr/>
        </p:nvGrpSpPr>
        <p:grpSpPr>
          <a:xfrm>
            <a:off x="14031686" y="0"/>
            <a:ext cx="4256314" cy="10287000"/>
            <a:chOff x="0" y="0"/>
            <a:chExt cx="1121005" cy="2709333"/>
          </a:xfrm>
        </p:grpSpPr>
        <p:sp>
          <p:nvSpPr>
            <p:cNvPr id="3" name="Freeform 3"/>
            <p:cNvSpPr/>
            <p:nvPr/>
          </p:nvSpPr>
          <p:spPr>
            <a:xfrm>
              <a:off x="0" y="0"/>
              <a:ext cx="1121005" cy="2709333"/>
            </a:xfrm>
            <a:custGeom>
              <a:avLst/>
              <a:gdLst/>
              <a:ahLst/>
              <a:cxnLst/>
              <a:rect l="l" t="t" r="r" b="b"/>
              <a:pathLst>
                <a:path w="1121005" h="2709333">
                  <a:moveTo>
                    <a:pt x="0" y="0"/>
                  </a:moveTo>
                  <a:lnTo>
                    <a:pt x="1121005" y="0"/>
                  </a:lnTo>
                  <a:lnTo>
                    <a:pt x="1121005" y="2709333"/>
                  </a:lnTo>
                  <a:lnTo>
                    <a:pt x="0" y="2709333"/>
                  </a:lnTo>
                  <a:close/>
                </a:path>
              </a:pathLst>
            </a:custGeom>
            <a:solidFill>
              <a:srgbClr val="FFFFFF"/>
            </a:solidFill>
          </p:spPr>
        </p:sp>
        <p:sp>
          <p:nvSpPr>
            <p:cNvPr id="4" name="TextBox 4"/>
            <p:cNvSpPr txBox="1"/>
            <p:nvPr/>
          </p:nvSpPr>
          <p:spPr>
            <a:xfrm>
              <a:off x="0" y="-57150"/>
              <a:ext cx="1121005" cy="2766483"/>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10459535" y="1687286"/>
            <a:ext cx="6799765" cy="6912429"/>
            <a:chOff x="0" y="0"/>
            <a:chExt cx="1053461" cy="1070916"/>
          </a:xfrm>
        </p:grpSpPr>
        <p:sp>
          <p:nvSpPr>
            <p:cNvPr id="6" name="Freeform 6"/>
            <p:cNvSpPr/>
            <p:nvPr/>
          </p:nvSpPr>
          <p:spPr>
            <a:xfrm>
              <a:off x="0" y="0"/>
              <a:ext cx="1053461" cy="1070916"/>
            </a:xfrm>
            <a:custGeom>
              <a:avLst/>
              <a:gdLst/>
              <a:ahLst/>
              <a:cxnLst/>
              <a:rect l="l" t="t" r="r" b="b"/>
              <a:pathLst>
                <a:path w="1053461" h="1070916">
                  <a:moveTo>
                    <a:pt x="0" y="0"/>
                  </a:moveTo>
                  <a:lnTo>
                    <a:pt x="1053461" y="0"/>
                  </a:lnTo>
                  <a:lnTo>
                    <a:pt x="1053461" y="1070916"/>
                  </a:lnTo>
                  <a:lnTo>
                    <a:pt x="0" y="1070916"/>
                  </a:lnTo>
                  <a:close/>
                </a:path>
              </a:pathLst>
            </a:custGeom>
            <a:blipFill>
              <a:blip r:embed="rId2"/>
              <a:stretch>
                <a:fillRect l="-828" r="-828"/>
              </a:stretch>
            </a:blipFill>
          </p:spPr>
        </p:sp>
      </p:grpSp>
      <p:sp>
        <p:nvSpPr>
          <p:cNvPr id="7" name="Freeform 7"/>
          <p:cNvSpPr/>
          <p:nvPr/>
        </p:nvSpPr>
        <p:spPr>
          <a:xfrm flipH="1" flipV="1">
            <a:off x="0" y="0"/>
            <a:ext cx="3934056" cy="4114800"/>
          </a:xfrm>
          <a:custGeom>
            <a:avLst/>
            <a:gdLst/>
            <a:ahLst/>
            <a:cxnLst/>
            <a:rect l="l" t="t" r="r" b="b"/>
            <a:pathLst>
              <a:path w="3934056" h="4114800">
                <a:moveTo>
                  <a:pt x="3934056" y="4114800"/>
                </a:moveTo>
                <a:lnTo>
                  <a:pt x="0" y="4114800"/>
                </a:lnTo>
                <a:lnTo>
                  <a:pt x="0" y="0"/>
                </a:lnTo>
                <a:lnTo>
                  <a:pt x="3934056" y="0"/>
                </a:lnTo>
                <a:lnTo>
                  <a:pt x="3934056" y="4114800"/>
                </a:lnTo>
                <a:close/>
              </a:path>
            </a:pathLst>
          </a:custGeom>
          <a:blipFill>
            <a:blip>
              <a:extLst>
                <a:ext uri="{96DAC541-7B7A-43D3-8B79-37D633B846F1}">
                  <asvg:svgBlip xmlns:asvg="http://schemas.microsoft.com/office/drawing/2016/SVG/main" r:embed="rId3"/>
                </a:ext>
              </a:extLst>
            </a:blip>
            <a:stretch>
              <a:fillRect/>
            </a:stretch>
          </a:blipFill>
        </p:spPr>
      </p:sp>
      <p:grpSp>
        <p:nvGrpSpPr>
          <p:cNvPr id="8" name="Group 8"/>
          <p:cNvGrpSpPr/>
          <p:nvPr/>
        </p:nvGrpSpPr>
        <p:grpSpPr>
          <a:xfrm>
            <a:off x="-794905" y="-704533"/>
            <a:ext cx="2761933" cy="276193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id="10" name="TextBox 10"/>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1172123" y="-1380967"/>
            <a:ext cx="2761933" cy="276193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id="13" name="TextBox 13"/>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sp>
        <p:nvSpPr>
          <p:cNvPr id="14" name="TextBox 14"/>
          <p:cNvSpPr txBox="1"/>
          <p:nvPr/>
        </p:nvSpPr>
        <p:spPr>
          <a:xfrm>
            <a:off x="1028700" y="2917462"/>
            <a:ext cx="7032171" cy="2024336"/>
          </a:xfrm>
          <a:prstGeom prst="rect">
            <a:avLst/>
          </a:prstGeom>
        </p:spPr>
        <p:txBody>
          <a:bodyPr lIns="0" tIns="0" rIns="0" bIns="0" rtlCol="0" anchor="t">
            <a:spAutoFit/>
          </a:bodyPr>
          <a:lstStyle/>
          <a:p>
            <a:pPr marL="0" lvl="0" indent="0" algn="l">
              <a:lnSpc>
                <a:spcPts val="7904"/>
              </a:lnSpc>
            </a:pPr>
            <a:r>
              <a:rPr lang="en-US" sz="6995" b="1">
                <a:solidFill>
                  <a:srgbClr val="FFFFFF"/>
                </a:solidFill>
                <a:latin typeface="League Spartan"/>
                <a:ea typeface="League Spartan"/>
                <a:cs typeface="League Spartan"/>
                <a:sym typeface="League Spartan"/>
              </a:rPr>
              <a:t>ALGORITHM WORKFLOW</a:t>
            </a:r>
          </a:p>
        </p:txBody>
      </p:sp>
      <p:sp>
        <p:nvSpPr>
          <p:cNvPr id="15" name="TextBox 15"/>
          <p:cNvSpPr txBox="1"/>
          <p:nvPr/>
        </p:nvSpPr>
        <p:spPr>
          <a:xfrm>
            <a:off x="1028700" y="5141067"/>
            <a:ext cx="7780634" cy="1065837"/>
          </a:xfrm>
          <a:prstGeom prst="rect">
            <a:avLst/>
          </a:prstGeom>
        </p:spPr>
        <p:txBody>
          <a:bodyPr lIns="0" tIns="0" rIns="0" bIns="0" rtlCol="0" anchor="t">
            <a:spAutoFit/>
          </a:bodyPr>
          <a:lstStyle/>
          <a:p>
            <a:pPr marL="0" lvl="0" indent="0" algn="l">
              <a:lnSpc>
                <a:spcPts val="2153"/>
              </a:lnSpc>
            </a:pPr>
            <a:r>
              <a:rPr lang="en-US" sz="1537">
                <a:solidFill>
                  <a:srgbClr val="FFFFFF"/>
                </a:solidFill>
                <a:latin typeface="Poppins"/>
                <a:ea typeface="Poppins"/>
                <a:cs typeface="Poppins"/>
                <a:sym typeface="Poppins"/>
              </a:rPr>
              <a:t>Add Node: create, input, link to head, update head pointer</a:t>
            </a:r>
          </a:p>
          <a:p>
            <a:pPr marL="0" lvl="0" indent="0" algn="l">
              <a:lnSpc>
                <a:spcPts val="2153"/>
              </a:lnSpc>
            </a:pPr>
            <a:r>
              <a:rPr lang="en-US" sz="1537">
                <a:solidFill>
                  <a:srgbClr val="FFFFFF"/>
                </a:solidFill>
                <a:latin typeface="Poppins"/>
                <a:ea typeface="Poppins"/>
                <a:cs typeface="Poppins"/>
                <a:sym typeface="Poppins"/>
              </a:rPr>
              <a:t>Delete Node: search node, track previous, update links, free memory</a:t>
            </a:r>
          </a:p>
          <a:p>
            <a:pPr marL="0" lvl="0" indent="0" algn="l">
              <a:lnSpc>
                <a:spcPts val="2153"/>
              </a:lnSpc>
            </a:pPr>
            <a:r>
              <a:rPr lang="en-US" sz="1537">
                <a:solidFill>
                  <a:srgbClr val="FFFFFF"/>
                </a:solidFill>
                <a:latin typeface="Poppins"/>
                <a:ea typeface="Poppins"/>
                <a:cs typeface="Poppins"/>
                <a:sym typeface="Poppins"/>
              </a:rPr>
              <a:t>Search Node: traverse list, compare IDs, return result</a:t>
            </a:r>
          </a:p>
          <a:p>
            <a:pPr marL="0" lvl="0" indent="0" algn="l">
              <a:lnSpc>
                <a:spcPts val="2153"/>
              </a:lnSpc>
            </a:pPr>
            <a:r>
              <a:rPr lang="en-US" sz="1537">
                <a:solidFill>
                  <a:srgbClr val="FFFFFF"/>
                </a:solidFill>
                <a:latin typeface="Poppins"/>
                <a:ea typeface="Poppins"/>
                <a:cs typeface="Poppins"/>
                <a:sym typeface="Poppins"/>
              </a:rPr>
              <a:t>Update Node: locate by ID, overwrite details as needed</a:t>
            </a:r>
          </a:p>
        </p:txBody>
      </p:sp>
      <p:sp>
        <p:nvSpPr>
          <p:cNvPr id="16" name="TextBox 16"/>
          <p:cNvSpPr txBox="1"/>
          <p:nvPr/>
        </p:nvSpPr>
        <p:spPr>
          <a:xfrm>
            <a:off x="1028700" y="6613087"/>
            <a:ext cx="8115300" cy="1065837"/>
          </a:xfrm>
          <a:prstGeom prst="rect">
            <a:avLst/>
          </a:prstGeom>
        </p:spPr>
        <p:txBody>
          <a:bodyPr lIns="0" tIns="0" rIns="0" bIns="0" rtlCol="0" anchor="t">
            <a:spAutoFit/>
          </a:bodyPr>
          <a:lstStyle/>
          <a:p>
            <a:pPr marL="0" lvl="0" indent="0" algn="l">
              <a:lnSpc>
                <a:spcPts val="2153"/>
              </a:lnSpc>
            </a:pPr>
            <a:r>
              <a:rPr lang="en-US" sz="1537">
                <a:solidFill>
                  <a:srgbClr val="FFFFFF"/>
                </a:solidFill>
                <a:latin typeface="Poppins"/>
                <a:ea typeface="Poppins"/>
                <a:cs typeface="Poppins"/>
                <a:sym typeface="Poppins"/>
              </a:rPr>
              <a:t>Each algorithm follows a systematic approach to maintain data integrity. Adding inserts at the head for O(1) efficiency. Deletion carefully manages pointers before freeing memory. Search performs linear traversal until match found. Update combines search with field modification.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7619B"/>
        </a:solidFill>
        <a:effectLst/>
      </p:bgPr>
    </p:bg>
    <p:spTree>
      <p:nvGrpSpPr>
        <p:cNvPr id="1" name=""/>
        <p:cNvGrpSpPr/>
        <p:nvPr/>
      </p:nvGrpSpPr>
      <p:grpSpPr>
        <a:xfrm>
          <a:off x="0" y="0"/>
          <a:ext cx="0" cy="0"/>
          <a:chOff x="0" y="0"/>
          <a:chExt cx="0" cy="0"/>
        </a:xfrm>
      </p:grpSpPr>
      <p:sp>
        <p:nvSpPr>
          <p:cNvPr id="2" name="TextBox 2"/>
          <p:cNvSpPr txBox="1"/>
          <p:nvPr/>
        </p:nvSpPr>
        <p:spPr>
          <a:xfrm>
            <a:off x="2116717" y="1382748"/>
            <a:ext cx="14054566" cy="548521"/>
          </a:xfrm>
          <a:prstGeom prst="rect">
            <a:avLst/>
          </a:prstGeom>
        </p:spPr>
        <p:txBody>
          <a:bodyPr lIns="0" tIns="0" rIns="0" bIns="0" rtlCol="0" anchor="t">
            <a:spAutoFit/>
          </a:bodyPr>
          <a:lstStyle/>
          <a:p>
            <a:pPr marL="0" lvl="0" indent="0" algn="ctr">
              <a:lnSpc>
                <a:spcPts val="4343"/>
              </a:lnSpc>
            </a:pPr>
            <a:r>
              <a:rPr lang="en-US" sz="3843" b="1">
                <a:solidFill>
                  <a:srgbClr val="FFFFFF"/>
                </a:solidFill>
                <a:latin typeface="League Spartan"/>
                <a:ea typeface="League Spartan"/>
                <a:cs typeface="League Spartan"/>
                <a:sym typeface="League Spartan"/>
              </a:rPr>
              <a:t>TECHNOLOGIES USED</a:t>
            </a:r>
          </a:p>
        </p:txBody>
      </p:sp>
      <p:grpSp>
        <p:nvGrpSpPr>
          <p:cNvPr id="3" name="Group 3"/>
          <p:cNvGrpSpPr/>
          <p:nvPr/>
        </p:nvGrpSpPr>
        <p:grpSpPr>
          <a:xfrm>
            <a:off x="-1305354" y="-1279763"/>
            <a:ext cx="3227168" cy="3193978"/>
            <a:chOff x="0" y="0"/>
            <a:chExt cx="812800" cy="804441"/>
          </a:xfrm>
        </p:grpSpPr>
        <p:sp>
          <p:nvSpPr>
            <p:cNvPr id="4" name="Freeform 4"/>
            <p:cNvSpPr/>
            <p:nvPr/>
          </p:nvSpPr>
          <p:spPr>
            <a:xfrm>
              <a:off x="0" y="0"/>
              <a:ext cx="812800" cy="804441"/>
            </a:xfrm>
            <a:custGeom>
              <a:avLst/>
              <a:gdLst/>
              <a:ahLst/>
              <a:cxnLst/>
              <a:rect l="l" t="t" r="r" b="b"/>
              <a:pathLst>
                <a:path w="812800" h="804441">
                  <a:moveTo>
                    <a:pt x="406400" y="0"/>
                  </a:moveTo>
                  <a:cubicBezTo>
                    <a:pt x="181951" y="0"/>
                    <a:pt x="0" y="180080"/>
                    <a:pt x="0" y="402220"/>
                  </a:cubicBezTo>
                  <a:cubicBezTo>
                    <a:pt x="0" y="624360"/>
                    <a:pt x="181951" y="804441"/>
                    <a:pt x="406400" y="804441"/>
                  </a:cubicBezTo>
                  <a:cubicBezTo>
                    <a:pt x="630849" y="804441"/>
                    <a:pt x="812800" y="624360"/>
                    <a:pt x="812800" y="402220"/>
                  </a:cubicBezTo>
                  <a:cubicBezTo>
                    <a:pt x="812800" y="180080"/>
                    <a:pt x="630849" y="0"/>
                    <a:pt x="406400" y="0"/>
                  </a:cubicBezTo>
                  <a:close/>
                </a:path>
              </a:pathLst>
            </a:custGeom>
            <a:ln w="666750" cap="sq">
              <a:solidFill>
                <a:srgbClr val="FFFFFF"/>
              </a:solidFill>
              <a:prstDash val="solid"/>
              <a:miter/>
            </a:ln>
          </p:spPr>
        </p:sp>
        <p:sp>
          <p:nvSpPr>
            <p:cNvPr id="5" name="TextBox 5"/>
            <p:cNvSpPr txBox="1"/>
            <p:nvPr/>
          </p:nvSpPr>
          <p:spPr>
            <a:xfrm>
              <a:off x="76200" y="18266"/>
              <a:ext cx="660400" cy="710758"/>
            </a:xfrm>
            <a:prstGeom prst="rect">
              <a:avLst/>
            </a:prstGeom>
          </p:spPr>
          <p:txBody>
            <a:bodyPr lIns="50800" tIns="50800" rIns="50800" bIns="50800" rtlCol="0" anchor="ctr"/>
            <a:lstStyle/>
            <a:p>
              <a:pPr marL="0" lvl="0" indent="0" algn="ctr">
                <a:lnSpc>
                  <a:spcPts val="2659"/>
                </a:lnSpc>
              </a:pPr>
              <a:endParaRPr/>
            </a:p>
          </p:txBody>
        </p:sp>
      </p:grpSp>
      <p:grpSp>
        <p:nvGrpSpPr>
          <p:cNvPr id="6" name="Group 6"/>
          <p:cNvGrpSpPr/>
          <p:nvPr/>
        </p:nvGrpSpPr>
        <p:grpSpPr>
          <a:xfrm>
            <a:off x="16361783" y="-1273067"/>
            <a:ext cx="3227168" cy="3193978"/>
            <a:chOff x="0" y="0"/>
            <a:chExt cx="812800" cy="804441"/>
          </a:xfrm>
        </p:grpSpPr>
        <p:sp>
          <p:nvSpPr>
            <p:cNvPr id="7" name="Freeform 7"/>
            <p:cNvSpPr/>
            <p:nvPr/>
          </p:nvSpPr>
          <p:spPr>
            <a:xfrm>
              <a:off x="0" y="0"/>
              <a:ext cx="812800" cy="804441"/>
            </a:xfrm>
            <a:custGeom>
              <a:avLst/>
              <a:gdLst/>
              <a:ahLst/>
              <a:cxnLst/>
              <a:rect l="l" t="t" r="r" b="b"/>
              <a:pathLst>
                <a:path w="812800" h="804441">
                  <a:moveTo>
                    <a:pt x="406400" y="0"/>
                  </a:moveTo>
                  <a:cubicBezTo>
                    <a:pt x="181951" y="0"/>
                    <a:pt x="0" y="180080"/>
                    <a:pt x="0" y="402220"/>
                  </a:cubicBezTo>
                  <a:cubicBezTo>
                    <a:pt x="0" y="624360"/>
                    <a:pt x="181951" y="804441"/>
                    <a:pt x="406400" y="804441"/>
                  </a:cubicBezTo>
                  <a:cubicBezTo>
                    <a:pt x="630849" y="804441"/>
                    <a:pt x="812800" y="624360"/>
                    <a:pt x="812800" y="402220"/>
                  </a:cubicBezTo>
                  <a:cubicBezTo>
                    <a:pt x="812800" y="180080"/>
                    <a:pt x="630849" y="0"/>
                    <a:pt x="406400" y="0"/>
                  </a:cubicBezTo>
                  <a:close/>
                </a:path>
              </a:pathLst>
            </a:custGeom>
            <a:ln w="666750" cap="sq">
              <a:solidFill>
                <a:srgbClr val="FFFFFF"/>
              </a:solidFill>
              <a:prstDash val="solid"/>
              <a:miter/>
            </a:ln>
          </p:spPr>
        </p:sp>
        <p:sp>
          <p:nvSpPr>
            <p:cNvPr id="8" name="TextBox 8"/>
            <p:cNvSpPr txBox="1"/>
            <p:nvPr/>
          </p:nvSpPr>
          <p:spPr>
            <a:xfrm>
              <a:off x="76200" y="18266"/>
              <a:ext cx="660400" cy="710758"/>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028700" y="3467841"/>
            <a:ext cx="5237679" cy="3611696"/>
            <a:chOff x="0" y="0"/>
            <a:chExt cx="1379471" cy="951229"/>
          </a:xfrm>
        </p:grpSpPr>
        <p:sp>
          <p:nvSpPr>
            <p:cNvPr id="10" name="Freeform 10"/>
            <p:cNvSpPr/>
            <p:nvPr/>
          </p:nvSpPr>
          <p:spPr>
            <a:xfrm>
              <a:off x="0" y="0"/>
              <a:ext cx="1379471" cy="951229"/>
            </a:xfrm>
            <a:custGeom>
              <a:avLst/>
              <a:gdLst/>
              <a:ahLst/>
              <a:cxnLst/>
              <a:rect l="l" t="t" r="r" b="b"/>
              <a:pathLst>
                <a:path w="1379471" h="951229">
                  <a:moveTo>
                    <a:pt x="75384" y="0"/>
                  </a:moveTo>
                  <a:lnTo>
                    <a:pt x="1304087" y="0"/>
                  </a:lnTo>
                  <a:cubicBezTo>
                    <a:pt x="1324080" y="0"/>
                    <a:pt x="1343254" y="7942"/>
                    <a:pt x="1357392" y="22080"/>
                  </a:cubicBezTo>
                  <a:cubicBezTo>
                    <a:pt x="1371529" y="36217"/>
                    <a:pt x="1379471" y="55391"/>
                    <a:pt x="1379471" y="75384"/>
                  </a:cubicBezTo>
                  <a:lnTo>
                    <a:pt x="1379471" y="875844"/>
                  </a:lnTo>
                  <a:cubicBezTo>
                    <a:pt x="1379471" y="917478"/>
                    <a:pt x="1345720" y="951229"/>
                    <a:pt x="1304087" y="951229"/>
                  </a:cubicBezTo>
                  <a:lnTo>
                    <a:pt x="75384" y="951229"/>
                  </a:lnTo>
                  <a:cubicBezTo>
                    <a:pt x="33751" y="951229"/>
                    <a:pt x="0" y="917478"/>
                    <a:pt x="0" y="875844"/>
                  </a:cubicBezTo>
                  <a:lnTo>
                    <a:pt x="0" y="75384"/>
                  </a:lnTo>
                  <a:cubicBezTo>
                    <a:pt x="0" y="33751"/>
                    <a:pt x="33751" y="0"/>
                    <a:pt x="75384" y="0"/>
                  </a:cubicBezTo>
                  <a:close/>
                </a:path>
              </a:pathLst>
            </a:custGeom>
            <a:solidFill>
              <a:srgbClr val="004369"/>
            </a:solidFill>
          </p:spPr>
        </p:sp>
        <p:sp>
          <p:nvSpPr>
            <p:cNvPr id="11" name="TextBox 11"/>
            <p:cNvSpPr txBox="1"/>
            <p:nvPr/>
          </p:nvSpPr>
          <p:spPr>
            <a:xfrm>
              <a:off x="0" y="-57150"/>
              <a:ext cx="1379471" cy="1008379"/>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6526171" y="3467841"/>
            <a:ext cx="5237679" cy="3611696"/>
            <a:chOff x="0" y="0"/>
            <a:chExt cx="1379471" cy="951229"/>
          </a:xfrm>
        </p:grpSpPr>
        <p:sp>
          <p:nvSpPr>
            <p:cNvPr id="13" name="Freeform 13"/>
            <p:cNvSpPr/>
            <p:nvPr/>
          </p:nvSpPr>
          <p:spPr>
            <a:xfrm>
              <a:off x="0" y="0"/>
              <a:ext cx="1379471" cy="951229"/>
            </a:xfrm>
            <a:custGeom>
              <a:avLst/>
              <a:gdLst/>
              <a:ahLst/>
              <a:cxnLst/>
              <a:rect l="l" t="t" r="r" b="b"/>
              <a:pathLst>
                <a:path w="1379471" h="951229">
                  <a:moveTo>
                    <a:pt x="75384" y="0"/>
                  </a:moveTo>
                  <a:lnTo>
                    <a:pt x="1304087" y="0"/>
                  </a:lnTo>
                  <a:cubicBezTo>
                    <a:pt x="1324080" y="0"/>
                    <a:pt x="1343254" y="7942"/>
                    <a:pt x="1357392" y="22080"/>
                  </a:cubicBezTo>
                  <a:cubicBezTo>
                    <a:pt x="1371529" y="36217"/>
                    <a:pt x="1379471" y="55391"/>
                    <a:pt x="1379471" y="75384"/>
                  </a:cubicBezTo>
                  <a:lnTo>
                    <a:pt x="1379471" y="875844"/>
                  </a:lnTo>
                  <a:cubicBezTo>
                    <a:pt x="1379471" y="917478"/>
                    <a:pt x="1345720" y="951229"/>
                    <a:pt x="1304087" y="951229"/>
                  </a:cubicBezTo>
                  <a:lnTo>
                    <a:pt x="75384" y="951229"/>
                  </a:lnTo>
                  <a:cubicBezTo>
                    <a:pt x="33751" y="951229"/>
                    <a:pt x="0" y="917478"/>
                    <a:pt x="0" y="875844"/>
                  </a:cubicBezTo>
                  <a:lnTo>
                    <a:pt x="0" y="75384"/>
                  </a:lnTo>
                  <a:cubicBezTo>
                    <a:pt x="0" y="33751"/>
                    <a:pt x="33751" y="0"/>
                    <a:pt x="75384" y="0"/>
                  </a:cubicBezTo>
                  <a:close/>
                </a:path>
              </a:pathLst>
            </a:custGeom>
            <a:solidFill>
              <a:srgbClr val="004369"/>
            </a:solidFill>
          </p:spPr>
        </p:sp>
        <p:sp>
          <p:nvSpPr>
            <p:cNvPr id="14" name="TextBox 14"/>
            <p:cNvSpPr txBox="1"/>
            <p:nvPr/>
          </p:nvSpPr>
          <p:spPr>
            <a:xfrm>
              <a:off x="0" y="-57150"/>
              <a:ext cx="1379471" cy="1008379"/>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12021621" y="3467841"/>
            <a:ext cx="5237679" cy="3611696"/>
            <a:chOff x="0" y="0"/>
            <a:chExt cx="1379471" cy="951229"/>
          </a:xfrm>
        </p:grpSpPr>
        <p:sp>
          <p:nvSpPr>
            <p:cNvPr id="16" name="Freeform 16"/>
            <p:cNvSpPr/>
            <p:nvPr/>
          </p:nvSpPr>
          <p:spPr>
            <a:xfrm>
              <a:off x="0" y="0"/>
              <a:ext cx="1379471" cy="951229"/>
            </a:xfrm>
            <a:custGeom>
              <a:avLst/>
              <a:gdLst/>
              <a:ahLst/>
              <a:cxnLst/>
              <a:rect l="l" t="t" r="r" b="b"/>
              <a:pathLst>
                <a:path w="1379471" h="951229">
                  <a:moveTo>
                    <a:pt x="75384" y="0"/>
                  </a:moveTo>
                  <a:lnTo>
                    <a:pt x="1304087" y="0"/>
                  </a:lnTo>
                  <a:cubicBezTo>
                    <a:pt x="1324080" y="0"/>
                    <a:pt x="1343254" y="7942"/>
                    <a:pt x="1357392" y="22080"/>
                  </a:cubicBezTo>
                  <a:cubicBezTo>
                    <a:pt x="1371529" y="36217"/>
                    <a:pt x="1379471" y="55391"/>
                    <a:pt x="1379471" y="75384"/>
                  </a:cubicBezTo>
                  <a:lnTo>
                    <a:pt x="1379471" y="875844"/>
                  </a:lnTo>
                  <a:cubicBezTo>
                    <a:pt x="1379471" y="917478"/>
                    <a:pt x="1345720" y="951229"/>
                    <a:pt x="1304087" y="951229"/>
                  </a:cubicBezTo>
                  <a:lnTo>
                    <a:pt x="75384" y="951229"/>
                  </a:lnTo>
                  <a:cubicBezTo>
                    <a:pt x="33751" y="951229"/>
                    <a:pt x="0" y="917478"/>
                    <a:pt x="0" y="875844"/>
                  </a:cubicBezTo>
                  <a:lnTo>
                    <a:pt x="0" y="75384"/>
                  </a:lnTo>
                  <a:cubicBezTo>
                    <a:pt x="0" y="33751"/>
                    <a:pt x="33751" y="0"/>
                    <a:pt x="75384" y="0"/>
                  </a:cubicBezTo>
                  <a:close/>
                </a:path>
              </a:pathLst>
            </a:custGeom>
            <a:solidFill>
              <a:srgbClr val="004369"/>
            </a:solidFill>
          </p:spPr>
        </p:sp>
        <p:sp>
          <p:nvSpPr>
            <p:cNvPr id="17" name="TextBox 17"/>
            <p:cNvSpPr txBox="1"/>
            <p:nvPr/>
          </p:nvSpPr>
          <p:spPr>
            <a:xfrm>
              <a:off x="0" y="-57150"/>
              <a:ext cx="1379471" cy="1008379"/>
            </a:xfrm>
            <a:prstGeom prst="rect">
              <a:avLst/>
            </a:prstGeom>
          </p:spPr>
          <p:txBody>
            <a:bodyPr lIns="50800" tIns="50800" rIns="50800" bIns="50800" rtlCol="0" anchor="ctr"/>
            <a:lstStyle/>
            <a:p>
              <a:pPr marL="0" lvl="0" indent="0" algn="ctr">
                <a:lnSpc>
                  <a:spcPts val="2659"/>
                </a:lnSpc>
              </a:pPr>
              <a:endParaRPr/>
            </a:p>
          </p:txBody>
        </p:sp>
      </p:grpSp>
      <p:sp>
        <p:nvSpPr>
          <p:cNvPr id="18" name="TextBox 18"/>
          <p:cNvSpPr txBox="1"/>
          <p:nvPr/>
        </p:nvSpPr>
        <p:spPr>
          <a:xfrm>
            <a:off x="3847913" y="7778115"/>
            <a:ext cx="10592174" cy="507365"/>
          </a:xfrm>
          <a:prstGeom prst="rect">
            <a:avLst/>
          </a:prstGeom>
        </p:spPr>
        <p:txBody>
          <a:bodyPr lIns="0" tIns="0" rIns="0" bIns="0" rtlCol="0" anchor="t">
            <a:spAutoFit/>
          </a:bodyPr>
          <a:lstStyle/>
          <a:p>
            <a:pPr marL="0" lvl="0" indent="0" algn="ctr">
              <a:lnSpc>
                <a:spcPts val="1959"/>
              </a:lnSpc>
            </a:pPr>
            <a:r>
              <a:rPr lang="en-US" sz="1399">
                <a:solidFill>
                  <a:srgbClr val="FFFFFF"/>
                </a:solidFill>
                <a:latin typeface="Poppins"/>
                <a:ea typeface="Poppins"/>
                <a:cs typeface="Poppins"/>
                <a:sym typeface="Poppins"/>
              </a:rPr>
              <a:t>This project is built entirely in C without external libraries or databases, demonstrating core programming fundamentals and efficient resource management through clean, modular code architecture.</a:t>
            </a:r>
          </a:p>
        </p:txBody>
      </p:sp>
      <p:sp>
        <p:nvSpPr>
          <p:cNvPr id="19" name="TextBox 19"/>
          <p:cNvSpPr txBox="1"/>
          <p:nvPr/>
        </p:nvSpPr>
        <p:spPr>
          <a:xfrm>
            <a:off x="1885808" y="5114925"/>
            <a:ext cx="3523464" cy="836295"/>
          </a:xfrm>
          <a:prstGeom prst="rect">
            <a:avLst/>
          </a:prstGeom>
        </p:spPr>
        <p:txBody>
          <a:bodyPr lIns="0" tIns="0" rIns="0" bIns="0" rtlCol="0" anchor="t">
            <a:spAutoFit/>
          </a:bodyPr>
          <a:lstStyle/>
          <a:p>
            <a:pPr marL="0" lvl="0" indent="0" algn="ctr">
              <a:lnSpc>
                <a:spcPts val="1679"/>
              </a:lnSpc>
            </a:pPr>
            <a:r>
              <a:rPr lang="en-US" sz="1200">
                <a:solidFill>
                  <a:srgbClr val="FFFFFF"/>
                </a:solidFill>
                <a:latin typeface="Poppins"/>
                <a:ea typeface="Poppins"/>
                <a:cs typeface="Poppins"/>
                <a:sym typeface="Poppins"/>
              </a:rPr>
              <a:t>Dynamic memory allocation using malloc() and free() for flexible data handling. Pointer manipulation for linked list traversal and node management.</a:t>
            </a:r>
          </a:p>
        </p:txBody>
      </p:sp>
      <p:sp>
        <p:nvSpPr>
          <p:cNvPr id="20" name="TextBox 20"/>
          <p:cNvSpPr txBox="1"/>
          <p:nvPr/>
        </p:nvSpPr>
        <p:spPr>
          <a:xfrm>
            <a:off x="7382268" y="5114925"/>
            <a:ext cx="3523464" cy="626745"/>
          </a:xfrm>
          <a:prstGeom prst="rect">
            <a:avLst/>
          </a:prstGeom>
        </p:spPr>
        <p:txBody>
          <a:bodyPr lIns="0" tIns="0" rIns="0" bIns="0" rtlCol="0" anchor="t">
            <a:spAutoFit/>
          </a:bodyPr>
          <a:lstStyle/>
          <a:p>
            <a:pPr marL="0" lvl="0" indent="0" algn="ctr">
              <a:lnSpc>
                <a:spcPts val="1679"/>
              </a:lnSpc>
            </a:pPr>
            <a:r>
              <a:rPr lang="en-US" sz="1200">
                <a:solidFill>
                  <a:srgbClr val="FFFFFF"/>
                </a:solidFill>
                <a:latin typeface="Poppins"/>
                <a:ea typeface="Poppins"/>
                <a:cs typeface="Poppins"/>
                <a:sym typeface="Poppins"/>
              </a:rPr>
              <a:t>Singly linked list data structure for efficient hospital record storage. Sequential access patterns optimized for CRUD operations.</a:t>
            </a:r>
          </a:p>
        </p:txBody>
      </p:sp>
      <p:sp>
        <p:nvSpPr>
          <p:cNvPr id="21" name="TextBox 21"/>
          <p:cNvSpPr txBox="1"/>
          <p:nvPr/>
        </p:nvSpPr>
        <p:spPr>
          <a:xfrm>
            <a:off x="12878728" y="5114925"/>
            <a:ext cx="3523464" cy="836295"/>
          </a:xfrm>
          <a:prstGeom prst="rect">
            <a:avLst/>
          </a:prstGeom>
        </p:spPr>
        <p:txBody>
          <a:bodyPr lIns="0" tIns="0" rIns="0" bIns="0" rtlCol="0" anchor="t">
            <a:spAutoFit/>
          </a:bodyPr>
          <a:lstStyle/>
          <a:p>
            <a:pPr marL="0" lvl="0" indent="0" algn="ctr">
              <a:lnSpc>
                <a:spcPts val="1679"/>
              </a:lnSpc>
            </a:pPr>
            <a:r>
              <a:rPr lang="en-US" sz="1200">
                <a:solidFill>
                  <a:srgbClr val="FFFFFF"/>
                </a:solidFill>
                <a:latin typeface="Poppins"/>
                <a:ea typeface="Poppins"/>
                <a:cs typeface="Poppins"/>
                <a:sym typeface="Poppins"/>
              </a:rPr>
              <a:t>Modular programming approach with separate functions for each operation. Clean code organization for maintainability and debugging.</a:t>
            </a:r>
          </a:p>
        </p:txBody>
      </p:sp>
      <p:sp>
        <p:nvSpPr>
          <p:cNvPr id="22" name="TextBox 22"/>
          <p:cNvSpPr txBox="1"/>
          <p:nvPr/>
        </p:nvSpPr>
        <p:spPr>
          <a:xfrm>
            <a:off x="1955680" y="3952240"/>
            <a:ext cx="3383719" cy="223218"/>
          </a:xfrm>
          <a:prstGeom prst="rect">
            <a:avLst/>
          </a:prstGeom>
        </p:spPr>
        <p:txBody>
          <a:bodyPr lIns="0" tIns="0" rIns="0" bIns="0" rtlCol="0" anchor="t">
            <a:spAutoFit/>
          </a:bodyPr>
          <a:lstStyle/>
          <a:p>
            <a:pPr marL="0" lvl="0" indent="0" algn="ctr">
              <a:lnSpc>
                <a:spcPts val="1737"/>
              </a:lnSpc>
            </a:pPr>
            <a:r>
              <a:rPr lang="en-US" sz="1537" b="1">
                <a:solidFill>
                  <a:srgbClr val="FFFFFF"/>
                </a:solidFill>
                <a:latin typeface="League Spartan"/>
                <a:ea typeface="League Spartan"/>
                <a:cs typeface="League Spartan"/>
                <a:sym typeface="League Spartan"/>
              </a:rPr>
              <a:t>C LANGUAGE &amp; GCC COMPILER</a:t>
            </a:r>
          </a:p>
        </p:txBody>
      </p:sp>
      <p:sp>
        <p:nvSpPr>
          <p:cNvPr id="23" name="TextBox 23"/>
          <p:cNvSpPr txBox="1"/>
          <p:nvPr/>
        </p:nvSpPr>
        <p:spPr>
          <a:xfrm>
            <a:off x="13678375" y="4024312"/>
            <a:ext cx="1919092" cy="727631"/>
          </a:xfrm>
          <a:prstGeom prst="rect">
            <a:avLst/>
          </a:prstGeom>
        </p:spPr>
        <p:txBody>
          <a:bodyPr lIns="0" tIns="0" rIns="0" bIns="0" rtlCol="0" anchor="t">
            <a:spAutoFit/>
          </a:bodyPr>
          <a:lstStyle/>
          <a:p>
            <a:pPr marL="0" lvl="0" indent="0" algn="ctr">
              <a:lnSpc>
                <a:spcPts val="2895"/>
              </a:lnSpc>
            </a:pPr>
            <a:r>
              <a:rPr lang="en-US" sz="2562" b="1">
                <a:solidFill>
                  <a:srgbClr val="FFFFFF"/>
                </a:solidFill>
                <a:latin typeface="League Spartan"/>
                <a:ea typeface="League Spartan"/>
                <a:cs typeface="League Spartan"/>
                <a:sym typeface="League Spartan"/>
              </a:rPr>
              <a:t>MODULAR DESIGN</a:t>
            </a:r>
          </a:p>
        </p:txBody>
      </p:sp>
      <p:sp>
        <p:nvSpPr>
          <p:cNvPr id="24" name="TextBox 24"/>
          <p:cNvSpPr txBox="1"/>
          <p:nvPr/>
        </p:nvSpPr>
        <p:spPr>
          <a:xfrm>
            <a:off x="8184454" y="4024312"/>
            <a:ext cx="1919092" cy="727631"/>
          </a:xfrm>
          <a:prstGeom prst="rect">
            <a:avLst/>
          </a:prstGeom>
        </p:spPr>
        <p:txBody>
          <a:bodyPr lIns="0" tIns="0" rIns="0" bIns="0" rtlCol="0" anchor="t">
            <a:spAutoFit/>
          </a:bodyPr>
          <a:lstStyle/>
          <a:p>
            <a:pPr marL="0" lvl="0" indent="0" algn="ctr">
              <a:lnSpc>
                <a:spcPts val="2895"/>
              </a:lnSpc>
            </a:pPr>
            <a:r>
              <a:rPr lang="en-US" sz="2562" b="1">
                <a:solidFill>
                  <a:srgbClr val="FFFFFF"/>
                </a:solidFill>
                <a:latin typeface="League Spartan"/>
                <a:ea typeface="League Spartan"/>
                <a:cs typeface="League Spartan"/>
                <a:sym typeface="League Spartan"/>
              </a:rPr>
              <a:t>LINKED LISTS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7619B"/>
        </a:solidFill>
        <a:effectLst/>
      </p:bgPr>
    </p:bg>
    <p:spTree>
      <p:nvGrpSpPr>
        <p:cNvPr id="1" name=""/>
        <p:cNvGrpSpPr/>
        <p:nvPr/>
      </p:nvGrpSpPr>
      <p:grpSpPr>
        <a:xfrm>
          <a:off x="0" y="0"/>
          <a:ext cx="0" cy="0"/>
          <a:chOff x="0" y="0"/>
          <a:chExt cx="0" cy="0"/>
        </a:xfrm>
      </p:grpSpPr>
      <p:grpSp>
        <p:nvGrpSpPr>
          <p:cNvPr id="2" name="Group 2"/>
          <p:cNvGrpSpPr/>
          <p:nvPr/>
        </p:nvGrpSpPr>
        <p:grpSpPr>
          <a:xfrm>
            <a:off x="14031686" y="0"/>
            <a:ext cx="4256314" cy="10287000"/>
            <a:chOff x="0" y="0"/>
            <a:chExt cx="1121005" cy="2709333"/>
          </a:xfrm>
        </p:grpSpPr>
        <p:sp>
          <p:nvSpPr>
            <p:cNvPr id="3" name="Freeform 3"/>
            <p:cNvSpPr/>
            <p:nvPr/>
          </p:nvSpPr>
          <p:spPr>
            <a:xfrm>
              <a:off x="0" y="0"/>
              <a:ext cx="1121005" cy="2709333"/>
            </a:xfrm>
            <a:custGeom>
              <a:avLst/>
              <a:gdLst/>
              <a:ahLst/>
              <a:cxnLst/>
              <a:rect l="l" t="t" r="r" b="b"/>
              <a:pathLst>
                <a:path w="1121005" h="2709333">
                  <a:moveTo>
                    <a:pt x="0" y="0"/>
                  </a:moveTo>
                  <a:lnTo>
                    <a:pt x="1121005" y="0"/>
                  </a:lnTo>
                  <a:lnTo>
                    <a:pt x="1121005" y="2709333"/>
                  </a:lnTo>
                  <a:lnTo>
                    <a:pt x="0" y="2709333"/>
                  </a:lnTo>
                  <a:close/>
                </a:path>
              </a:pathLst>
            </a:custGeom>
            <a:solidFill>
              <a:srgbClr val="FFFFFF"/>
            </a:solidFill>
          </p:spPr>
        </p:sp>
        <p:sp>
          <p:nvSpPr>
            <p:cNvPr id="4" name="TextBox 4"/>
            <p:cNvSpPr txBox="1"/>
            <p:nvPr/>
          </p:nvSpPr>
          <p:spPr>
            <a:xfrm>
              <a:off x="0" y="-57150"/>
              <a:ext cx="1121005" cy="2766483"/>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10459535" y="1687286"/>
            <a:ext cx="6799765" cy="6912429"/>
            <a:chOff x="0" y="0"/>
            <a:chExt cx="1053461" cy="1070916"/>
          </a:xfrm>
        </p:grpSpPr>
        <p:sp>
          <p:nvSpPr>
            <p:cNvPr id="6" name="Freeform 6"/>
            <p:cNvSpPr/>
            <p:nvPr/>
          </p:nvSpPr>
          <p:spPr>
            <a:xfrm>
              <a:off x="0" y="0"/>
              <a:ext cx="1053461" cy="1070916"/>
            </a:xfrm>
            <a:custGeom>
              <a:avLst/>
              <a:gdLst/>
              <a:ahLst/>
              <a:cxnLst/>
              <a:rect l="l" t="t" r="r" b="b"/>
              <a:pathLst>
                <a:path w="1053461" h="1070916">
                  <a:moveTo>
                    <a:pt x="0" y="0"/>
                  </a:moveTo>
                  <a:lnTo>
                    <a:pt x="1053461" y="0"/>
                  </a:lnTo>
                  <a:lnTo>
                    <a:pt x="1053461" y="1070916"/>
                  </a:lnTo>
                  <a:lnTo>
                    <a:pt x="0" y="1070916"/>
                  </a:lnTo>
                  <a:close/>
                </a:path>
              </a:pathLst>
            </a:custGeom>
            <a:blipFill>
              <a:blip r:embed="rId2"/>
              <a:stretch>
                <a:fillRect l="-828" r="-828"/>
              </a:stretch>
            </a:blipFill>
          </p:spPr>
        </p:sp>
      </p:grpSp>
      <p:sp>
        <p:nvSpPr>
          <p:cNvPr id="7" name="Freeform 7"/>
          <p:cNvSpPr/>
          <p:nvPr/>
        </p:nvSpPr>
        <p:spPr>
          <a:xfrm flipH="1" flipV="1">
            <a:off x="0" y="0"/>
            <a:ext cx="3934056" cy="4114800"/>
          </a:xfrm>
          <a:custGeom>
            <a:avLst/>
            <a:gdLst/>
            <a:ahLst/>
            <a:cxnLst/>
            <a:rect l="l" t="t" r="r" b="b"/>
            <a:pathLst>
              <a:path w="3934056" h="4114800">
                <a:moveTo>
                  <a:pt x="3934056" y="4114800"/>
                </a:moveTo>
                <a:lnTo>
                  <a:pt x="0" y="4114800"/>
                </a:lnTo>
                <a:lnTo>
                  <a:pt x="0" y="0"/>
                </a:lnTo>
                <a:lnTo>
                  <a:pt x="3934056" y="0"/>
                </a:lnTo>
                <a:lnTo>
                  <a:pt x="3934056" y="4114800"/>
                </a:lnTo>
                <a:close/>
              </a:path>
            </a:pathLst>
          </a:custGeom>
          <a:blipFill>
            <a:blip>
              <a:extLst>
                <a:ext uri="{96DAC541-7B7A-43D3-8B79-37D633B846F1}">
                  <asvg:svgBlip xmlns:asvg="http://schemas.microsoft.com/office/drawing/2016/SVG/main" r:embed="rId3"/>
                </a:ext>
              </a:extLst>
            </a:blip>
            <a:stretch>
              <a:fillRect/>
            </a:stretch>
          </a:blipFill>
        </p:spPr>
      </p:sp>
      <p:grpSp>
        <p:nvGrpSpPr>
          <p:cNvPr id="8" name="Group 8"/>
          <p:cNvGrpSpPr/>
          <p:nvPr/>
        </p:nvGrpSpPr>
        <p:grpSpPr>
          <a:xfrm>
            <a:off x="-794905" y="-704533"/>
            <a:ext cx="2761933" cy="276193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id="10" name="TextBox 10"/>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1172123" y="-1380967"/>
            <a:ext cx="2761933" cy="276193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id="13" name="TextBox 13"/>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sp>
        <p:nvSpPr>
          <p:cNvPr id="14" name="TextBox 14"/>
          <p:cNvSpPr txBox="1"/>
          <p:nvPr/>
        </p:nvSpPr>
        <p:spPr>
          <a:xfrm>
            <a:off x="1028700" y="2917462"/>
            <a:ext cx="7032171" cy="2024336"/>
          </a:xfrm>
          <a:prstGeom prst="rect">
            <a:avLst/>
          </a:prstGeom>
        </p:spPr>
        <p:txBody>
          <a:bodyPr lIns="0" tIns="0" rIns="0" bIns="0" rtlCol="0" anchor="t">
            <a:spAutoFit/>
          </a:bodyPr>
          <a:lstStyle/>
          <a:p>
            <a:pPr marL="0" lvl="0" indent="0" algn="l">
              <a:lnSpc>
                <a:spcPts val="7904"/>
              </a:lnSpc>
            </a:pPr>
            <a:r>
              <a:rPr lang="en-US" sz="6995" b="1">
                <a:solidFill>
                  <a:srgbClr val="FFFFFF"/>
                </a:solidFill>
                <a:latin typeface="League Spartan"/>
                <a:ea typeface="League Spartan"/>
                <a:cs typeface="League Spartan"/>
                <a:sym typeface="League Spartan"/>
              </a:rPr>
              <a:t>HOW TO RUN THE PROGRAM</a:t>
            </a:r>
          </a:p>
        </p:txBody>
      </p:sp>
      <p:sp>
        <p:nvSpPr>
          <p:cNvPr id="15" name="TextBox 15"/>
          <p:cNvSpPr txBox="1"/>
          <p:nvPr/>
        </p:nvSpPr>
        <p:spPr>
          <a:xfrm>
            <a:off x="1028700" y="5122017"/>
            <a:ext cx="7780634" cy="1118272"/>
          </a:xfrm>
          <a:prstGeom prst="rect">
            <a:avLst/>
          </a:prstGeom>
        </p:spPr>
        <p:txBody>
          <a:bodyPr lIns="0" tIns="0" rIns="0" bIns="0" rtlCol="0" anchor="t">
            <a:spAutoFit/>
          </a:bodyPr>
          <a:lstStyle/>
          <a:p>
            <a:pPr marL="0" lvl="0" indent="0" algn="l">
              <a:lnSpc>
                <a:spcPts val="2937"/>
              </a:lnSpc>
            </a:pPr>
            <a:r>
              <a:rPr lang="en-US" sz="2098">
                <a:solidFill>
                  <a:srgbClr val="FFFFFF"/>
                </a:solidFill>
                <a:latin typeface="Poppins"/>
                <a:ea typeface="Poppins"/>
                <a:cs typeface="Poppins"/>
                <a:sym typeface="Poppins"/>
              </a:rPr>
              <a:t>Step 1: Compile using gcc hospital_graph.c -o hospital</a:t>
            </a:r>
          </a:p>
          <a:p>
            <a:pPr marL="0" lvl="0" indent="0" algn="l">
              <a:lnSpc>
                <a:spcPts val="2937"/>
              </a:lnSpc>
            </a:pPr>
            <a:r>
              <a:rPr lang="en-US" sz="2098">
                <a:solidFill>
                  <a:srgbClr val="FFFFFF"/>
                </a:solidFill>
                <a:latin typeface="Poppins"/>
                <a:ea typeface="Poppins"/>
                <a:cs typeface="Poppins"/>
                <a:sym typeface="Poppins"/>
              </a:rPr>
              <a:t>Step 2: Execute with ./hospital</a:t>
            </a:r>
          </a:p>
          <a:p>
            <a:pPr marL="0" lvl="0" indent="0" algn="l">
              <a:lnSpc>
                <a:spcPts val="2937"/>
              </a:lnSpc>
            </a:pPr>
            <a:r>
              <a:rPr lang="en-US" sz="2098">
                <a:solidFill>
                  <a:srgbClr val="FFFFFF"/>
                </a:solidFill>
                <a:latin typeface="Poppins"/>
                <a:ea typeface="Poppins"/>
                <a:cs typeface="Poppins"/>
                <a:sym typeface="Poppins"/>
              </a:rPr>
              <a:t>Menu interface guides all operations</a:t>
            </a:r>
          </a:p>
        </p:txBody>
      </p:sp>
      <p:sp>
        <p:nvSpPr>
          <p:cNvPr id="16" name="TextBox 16"/>
          <p:cNvSpPr txBox="1"/>
          <p:nvPr/>
        </p:nvSpPr>
        <p:spPr>
          <a:xfrm>
            <a:off x="1028700" y="6594037"/>
            <a:ext cx="8115300" cy="2604172"/>
          </a:xfrm>
          <a:prstGeom prst="rect">
            <a:avLst/>
          </a:prstGeom>
        </p:spPr>
        <p:txBody>
          <a:bodyPr lIns="0" tIns="0" rIns="0" bIns="0" rtlCol="0" anchor="t">
            <a:spAutoFit/>
          </a:bodyPr>
          <a:lstStyle/>
          <a:p>
            <a:pPr marL="0" lvl="0" indent="0" algn="l">
              <a:lnSpc>
                <a:spcPts val="2937"/>
              </a:lnSpc>
            </a:pPr>
            <a:r>
              <a:rPr lang="en-US" sz="2098">
                <a:solidFill>
                  <a:srgbClr val="FFFFFF"/>
                </a:solidFill>
                <a:latin typeface="Poppins"/>
                <a:ea typeface="Poppins"/>
                <a:cs typeface="Poppins"/>
                <a:sym typeface="Poppins"/>
              </a:rPr>
              <a:t>Menu Options Available:</a:t>
            </a:r>
          </a:p>
          <a:p>
            <a:pPr marL="0" lvl="0" indent="0" algn="l">
              <a:lnSpc>
                <a:spcPts val="2937"/>
              </a:lnSpc>
            </a:pPr>
            <a:r>
              <a:rPr lang="en-US" sz="2098">
                <a:solidFill>
                  <a:srgbClr val="FFFFFF"/>
                </a:solidFill>
                <a:latin typeface="Poppins"/>
                <a:ea typeface="Poppins"/>
                <a:cs typeface="Poppins"/>
                <a:sym typeface="Poppins"/>
              </a:rPr>
              <a:t>• Add - Insert new hospital records</a:t>
            </a:r>
          </a:p>
          <a:p>
            <a:pPr marL="0" lvl="0" indent="0" algn="l">
              <a:lnSpc>
                <a:spcPts val="2937"/>
              </a:lnSpc>
            </a:pPr>
            <a:r>
              <a:rPr lang="en-US" sz="2098">
                <a:solidFill>
                  <a:srgbClr val="FFFFFF"/>
                </a:solidFill>
                <a:latin typeface="Poppins"/>
                <a:ea typeface="Poppins"/>
                <a:cs typeface="Poppins"/>
                <a:sym typeface="Poppins"/>
              </a:rPr>
              <a:t>• Delete - Remove existing records</a:t>
            </a:r>
          </a:p>
          <a:p>
            <a:pPr marL="0" lvl="0" indent="0" algn="l">
              <a:lnSpc>
                <a:spcPts val="2937"/>
              </a:lnSpc>
            </a:pPr>
            <a:r>
              <a:rPr lang="en-US" sz="2098">
                <a:solidFill>
                  <a:srgbClr val="FFFFFF"/>
                </a:solidFill>
                <a:latin typeface="Poppins"/>
                <a:ea typeface="Poppins"/>
                <a:cs typeface="Poppins"/>
                <a:sym typeface="Poppins"/>
              </a:rPr>
              <a:t>• Update - Modify hospital details</a:t>
            </a:r>
          </a:p>
          <a:p>
            <a:pPr marL="0" lvl="0" indent="0" algn="l">
              <a:lnSpc>
                <a:spcPts val="2937"/>
              </a:lnSpc>
            </a:pPr>
            <a:r>
              <a:rPr lang="en-US" sz="2098">
                <a:solidFill>
                  <a:srgbClr val="FFFFFF"/>
                </a:solidFill>
                <a:latin typeface="Poppins"/>
                <a:ea typeface="Poppins"/>
                <a:cs typeface="Poppins"/>
                <a:sym typeface="Poppins"/>
              </a:rPr>
              <a:t>• Search - Find hospitals by ID</a:t>
            </a:r>
          </a:p>
          <a:p>
            <a:pPr marL="0" lvl="0" indent="0" algn="l">
              <a:lnSpc>
                <a:spcPts val="2937"/>
              </a:lnSpc>
            </a:pPr>
            <a:r>
              <a:rPr lang="en-US" sz="2098">
                <a:solidFill>
                  <a:srgbClr val="FFFFFF"/>
                </a:solidFill>
                <a:latin typeface="Poppins"/>
                <a:ea typeface="Poppins"/>
                <a:cs typeface="Poppins"/>
                <a:sym typeface="Poppins"/>
              </a:rPr>
              <a:t>• Display - View all records</a:t>
            </a:r>
          </a:p>
          <a:p>
            <a:pPr marL="0" lvl="0" indent="0" algn="l">
              <a:lnSpc>
                <a:spcPts val="2937"/>
              </a:lnSpc>
            </a:pPr>
            <a:r>
              <a:rPr lang="en-US" sz="2098">
                <a:solidFill>
                  <a:srgbClr val="FFFFFF"/>
                </a:solidFill>
                <a:latin typeface="Poppins"/>
                <a:ea typeface="Poppins"/>
                <a:cs typeface="Poppins"/>
                <a:sym typeface="Poppins"/>
              </a:rPr>
              <a:t>• Exit - Close the program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7619B"/>
        </a:solidFill>
        <a:effectLst/>
      </p:bgPr>
    </p:bg>
    <p:spTree>
      <p:nvGrpSpPr>
        <p:cNvPr id="1" name=""/>
        <p:cNvGrpSpPr/>
        <p:nvPr/>
      </p:nvGrpSpPr>
      <p:grpSpPr>
        <a:xfrm>
          <a:off x="0" y="0"/>
          <a:ext cx="0" cy="0"/>
          <a:chOff x="0" y="0"/>
          <a:chExt cx="0" cy="0"/>
        </a:xfrm>
      </p:grpSpPr>
      <p:sp>
        <p:nvSpPr>
          <p:cNvPr id="2" name="TextBox 2"/>
          <p:cNvSpPr txBox="1"/>
          <p:nvPr/>
        </p:nvSpPr>
        <p:spPr>
          <a:xfrm>
            <a:off x="2116717" y="1373223"/>
            <a:ext cx="14054566" cy="476960"/>
          </a:xfrm>
          <a:prstGeom prst="rect">
            <a:avLst/>
          </a:prstGeom>
        </p:spPr>
        <p:txBody>
          <a:bodyPr lIns="0" tIns="0" rIns="0" bIns="0" rtlCol="0" anchor="t">
            <a:spAutoFit/>
          </a:bodyPr>
          <a:lstStyle/>
          <a:p>
            <a:pPr marL="0" lvl="0" indent="0" algn="ctr">
              <a:lnSpc>
                <a:spcPts val="3722"/>
              </a:lnSpc>
            </a:pPr>
            <a:r>
              <a:rPr lang="en-US" sz="3294" b="1">
                <a:solidFill>
                  <a:srgbClr val="FFFFFF"/>
                </a:solidFill>
                <a:latin typeface="League Spartan"/>
                <a:ea typeface="League Spartan"/>
                <a:cs typeface="League Spartan"/>
                <a:sym typeface="League Spartan"/>
              </a:rPr>
              <a:t>LIMITATIONS</a:t>
            </a:r>
          </a:p>
        </p:txBody>
      </p:sp>
      <p:grpSp>
        <p:nvGrpSpPr>
          <p:cNvPr id="3" name="Group 3"/>
          <p:cNvGrpSpPr/>
          <p:nvPr/>
        </p:nvGrpSpPr>
        <p:grpSpPr>
          <a:xfrm>
            <a:off x="-1305354" y="-1279763"/>
            <a:ext cx="3227168" cy="3193978"/>
            <a:chOff x="0" y="0"/>
            <a:chExt cx="812800" cy="804441"/>
          </a:xfrm>
        </p:grpSpPr>
        <p:sp>
          <p:nvSpPr>
            <p:cNvPr id="4" name="Freeform 4"/>
            <p:cNvSpPr/>
            <p:nvPr/>
          </p:nvSpPr>
          <p:spPr>
            <a:xfrm>
              <a:off x="0" y="0"/>
              <a:ext cx="812800" cy="804441"/>
            </a:xfrm>
            <a:custGeom>
              <a:avLst/>
              <a:gdLst/>
              <a:ahLst/>
              <a:cxnLst/>
              <a:rect l="l" t="t" r="r" b="b"/>
              <a:pathLst>
                <a:path w="812800" h="804441">
                  <a:moveTo>
                    <a:pt x="406400" y="0"/>
                  </a:moveTo>
                  <a:cubicBezTo>
                    <a:pt x="181951" y="0"/>
                    <a:pt x="0" y="180080"/>
                    <a:pt x="0" y="402220"/>
                  </a:cubicBezTo>
                  <a:cubicBezTo>
                    <a:pt x="0" y="624360"/>
                    <a:pt x="181951" y="804441"/>
                    <a:pt x="406400" y="804441"/>
                  </a:cubicBezTo>
                  <a:cubicBezTo>
                    <a:pt x="630849" y="804441"/>
                    <a:pt x="812800" y="624360"/>
                    <a:pt x="812800" y="402220"/>
                  </a:cubicBezTo>
                  <a:cubicBezTo>
                    <a:pt x="812800" y="180080"/>
                    <a:pt x="630849" y="0"/>
                    <a:pt x="406400" y="0"/>
                  </a:cubicBezTo>
                  <a:close/>
                </a:path>
              </a:pathLst>
            </a:custGeom>
            <a:ln w="666750" cap="sq">
              <a:solidFill>
                <a:srgbClr val="FFFFFF"/>
              </a:solidFill>
              <a:prstDash val="solid"/>
              <a:miter/>
            </a:ln>
          </p:spPr>
        </p:sp>
        <p:sp>
          <p:nvSpPr>
            <p:cNvPr id="5" name="TextBox 5"/>
            <p:cNvSpPr txBox="1"/>
            <p:nvPr/>
          </p:nvSpPr>
          <p:spPr>
            <a:xfrm>
              <a:off x="76200" y="18266"/>
              <a:ext cx="660400" cy="710758"/>
            </a:xfrm>
            <a:prstGeom prst="rect">
              <a:avLst/>
            </a:prstGeom>
          </p:spPr>
          <p:txBody>
            <a:bodyPr lIns="50800" tIns="50800" rIns="50800" bIns="50800" rtlCol="0" anchor="ctr"/>
            <a:lstStyle/>
            <a:p>
              <a:pPr marL="0" lvl="0" indent="0" algn="ctr">
                <a:lnSpc>
                  <a:spcPts val="2659"/>
                </a:lnSpc>
              </a:pPr>
              <a:endParaRPr/>
            </a:p>
          </p:txBody>
        </p:sp>
      </p:grpSp>
      <p:grpSp>
        <p:nvGrpSpPr>
          <p:cNvPr id="6" name="Group 6"/>
          <p:cNvGrpSpPr/>
          <p:nvPr/>
        </p:nvGrpSpPr>
        <p:grpSpPr>
          <a:xfrm>
            <a:off x="16361783" y="-1273067"/>
            <a:ext cx="3227168" cy="3193978"/>
            <a:chOff x="0" y="0"/>
            <a:chExt cx="812800" cy="804441"/>
          </a:xfrm>
        </p:grpSpPr>
        <p:sp>
          <p:nvSpPr>
            <p:cNvPr id="7" name="Freeform 7"/>
            <p:cNvSpPr/>
            <p:nvPr/>
          </p:nvSpPr>
          <p:spPr>
            <a:xfrm>
              <a:off x="0" y="0"/>
              <a:ext cx="812800" cy="804441"/>
            </a:xfrm>
            <a:custGeom>
              <a:avLst/>
              <a:gdLst/>
              <a:ahLst/>
              <a:cxnLst/>
              <a:rect l="l" t="t" r="r" b="b"/>
              <a:pathLst>
                <a:path w="812800" h="804441">
                  <a:moveTo>
                    <a:pt x="406400" y="0"/>
                  </a:moveTo>
                  <a:cubicBezTo>
                    <a:pt x="181951" y="0"/>
                    <a:pt x="0" y="180080"/>
                    <a:pt x="0" y="402220"/>
                  </a:cubicBezTo>
                  <a:cubicBezTo>
                    <a:pt x="0" y="624360"/>
                    <a:pt x="181951" y="804441"/>
                    <a:pt x="406400" y="804441"/>
                  </a:cubicBezTo>
                  <a:cubicBezTo>
                    <a:pt x="630849" y="804441"/>
                    <a:pt x="812800" y="624360"/>
                    <a:pt x="812800" y="402220"/>
                  </a:cubicBezTo>
                  <a:cubicBezTo>
                    <a:pt x="812800" y="180080"/>
                    <a:pt x="630849" y="0"/>
                    <a:pt x="406400" y="0"/>
                  </a:cubicBezTo>
                  <a:close/>
                </a:path>
              </a:pathLst>
            </a:custGeom>
            <a:ln w="666750" cap="sq">
              <a:solidFill>
                <a:srgbClr val="FFFFFF"/>
              </a:solidFill>
              <a:prstDash val="solid"/>
              <a:miter/>
            </a:ln>
          </p:spPr>
        </p:sp>
        <p:sp>
          <p:nvSpPr>
            <p:cNvPr id="8" name="TextBox 8"/>
            <p:cNvSpPr txBox="1"/>
            <p:nvPr/>
          </p:nvSpPr>
          <p:spPr>
            <a:xfrm>
              <a:off x="76200" y="18266"/>
              <a:ext cx="660400" cy="710758"/>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028700" y="3467841"/>
            <a:ext cx="5237679" cy="3611696"/>
            <a:chOff x="0" y="0"/>
            <a:chExt cx="1379471" cy="951229"/>
          </a:xfrm>
        </p:grpSpPr>
        <p:sp>
          <p:nvSpPr>
            <p:cNvPr id="10" name="Freeform 10"/>
            <p:cNvSpPr/>
            <p:nvPr/>
          </p:nvSpPr>
          <p:spPr>
            <a:xfrm>
              <a:off x="0" y="0"/>
              <a:ext cx="1379471" cy="951229"/>
            </a:xfrm>
            <a:custGeom>
              <a:avLst/>
              <a:gdLst/>
              <a:ahLst/>
              <a:cxnLst/>
              <a:rect l="l" t="t" r="r" b="b"/>
              <a:pathLst>
                <a:path w="1379471" h="951229">
                  <a:moveTo>
                    <a:pt x="75384" y="0"/>
                  </a:moveTo>
                  <a:lnTo>
                    <a:pt x="1304087" y="0"/>
                  </a:lnTo>
                  <a:cubicBezTo>
                    <a:pt x="1324080" y="0"/>
                    <a:pt x="1343254" y="7942"/>
                    <a:pt x="1357392" y="22080"/>
                  </a:cubicBezTo>
                  <a:cubicBezTo>
                    <a:pt x="1371529" y="36217"/>
                    <a:pt x="1379471" y="55391"/>
                    <a:pt x="1379471" y="75384"/>
                  </a:cubicBezTo>
                  <a:lnTo>
                    <a:pt x="1379471" y="875844"/>
                  </a:lnTo>
                  <a:cubicBezTo>
                    <a:pt x="1379471" y="917478"/>
                    <a:pt x="1345720" y="951229"/>
                    <a:pt x="1304087" y="951229"/>
                  </a:cubicBezTo>
                  <a:lnTo>
                    <a:pt x="75384" y="951229"/>
                  </a:lnTo>
                  <a:cubicBezTo>
                    <a:pt x="33751" y="951229"/>
                    <a:pt x="0" y="917478"/>
                    <a:pt x="0" y="875844"/>
                  </a:cubicBezTo>
                  <a:lnTo>
                    <a:pt x="0" y="75384"/>
                  </a:lnTo>
                  <a:cubicBezTo>
                    <a:pt x="0" y="33751"/>
                    <a:pt x="33751" y="0"/>
                    <a:pt x="75384" y="0"/>
                  </a:cubicBezTo>
                  <a:close/>
                </a:path>
              </a:pathLst>
            </a:custGeom>
            <a:solidFill>
              <a:srgbClr val="004369"/>
            </a:solidFill>
          </p:spPr>
        </p:sp>
        <p:sp>
          <p:nvSpPr>
            <p:cNvPr id="11" name="TextBox 11"/>
            <p:cNvSpPr txBox="1"/>
            <p:nvPr/>
          </p:nvSpPr>
          <p:spPr>
            <a:xfrm>
              <a:off x="0" y="-57150"/>
              <a:ext cx="1379471" cy="1008379"/>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6526171" y="3467841"/>
            <a:ext cx="5237679" cy="3611696"/>
            <a:chOff x="0" y="0"/>
            <a:chExt cx="1379471" cy="951229"/>
          </a:xfrm>
        </p:grpSpPr>
        <p:sp>
          <p:nvSpPr>
            <p:cNvPr id="13" name="Freeform 13"/>
            <p:cNvSpPr/>
            <p:nvPr/>
          </p:nvSpPr>
          <p:spPr>
            <a:xfrm>
              <a:off x="0" y="0"/>
              <a:ext cx="1379471" cy="951229"/>
            </a:xfrm>
            <a:custGeom>
              <a:avLst/>
              <a:gdLst/>
              <a:ahLst/>
              <a:cxnLst/>
              <a:rect l="l" t="t" r="r" b="b"/>
              <a:pathLst>
                <a:path w="1379471" h="951229">
                  <a:moveTo>
                    <a:pt x="75384" y="0"/>
                  </a:moveTo>
                  <a:lnTo>
                    <a:pt x="1304087" y="0"/>
                  </a:lnTo>
                  <a:cubicBezTo>
                    <a:pt x="1324080" y="0"/>
                    <a:pt x="1343254" y="7942"/>
                    <a:pt x="1357392" y="22080"/>
                  </a:cubicBezTo>
                  <a:cubicBezTo>
                    <a:pt x="1371529" y="36217"/>
                    <a:pt x="1379471" y="55391"/>
                    <a:pt x="1379471" y="75384"/>
                  </a:cubicBezTo>
                  <a:lnTo>
                    <a:pt x="1379471" y="875844"/>
                  </a:lnTo>
                  <a:cubicBezTo>
                    <a:pt x="1379471" y="917478"/>
                    <a:pt x="1345720" y="951229"/>
                    <a:pt x="1304087" y="951229"/>
                  </a:cubicBezTo>
                  <a:lnTo>
                    <a:pt x="75384" y="951229"/>
                  </a:lnTo>
                  <a:cubicBezTo>
                    <a:pt x="33751" y="951229"/>
                    <a:pt x="0" y="917478"/>
                    <a:pt x="0" y="875844"/>
                  </a:cubicBezTo>
                  <a:lnTo>
                    <a:pt x="0" y="75384"/>
                  </a:lnTo>
                  <a:cubicBezTo>
                    <a:pt x="0" y="33751"/>
                    <a:pt x="33751" y="0"/>
                    <a:pt x="75384" y="0"/>
                  </a:cubicBezTo>
                  <a:close/>
                </a:path>
              </a:pathLst>
            </a:custGeom>
            <a:solidFill>
              <a:srgbClr val="004369"/>
            </a:solidFill>
          </p:spPr>
        </p:sp>
        <p:sp>
          <p:nvSpPr>
            <p:cNvPr id="14" name="TextBox 14"/>
            <p:cNvSpPr txBox="1"/>
            <p:nvPr/>
          </p:nvSpPr>
          <p:spPr>
            <a:xfrm>
              <a:off x="0" y="-57150"/>
              <a:ext cx="1379471" cy="1008379"/>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12021621" y="3467841"/>
            <a:ext cx="5237679" cy="3611696"/>
            <a:chOff x="0" y="0"/>
            <a:chExt cx="1379471" cy="951229"/>
          </a:xfrm>
        </p:grpSpPr>
        <p:sp>
          <p:nvSpPr>
            <p:cNvPr id="16" name="Freeform 16"/>
            <p:cNvSpPr/>
            <p:nvPr/>
          </p:nvSpPr>
          <p:spPr>
            <a:xfrm>
              <a:off x="0" y="0"/>
              <a:ext cx="1379471" cy="951229"/>
            </a:xfrm>
            <a:custGeom>
              <a:avLst/>
              <a:gdLst/>
              <a:ahLst/>
              <a:cxnLst/>
              <a:rect l="l" t="t" r="r" b="b"/>
              <a:pathLst>
                <a:path w="1379471" h="951229">
                  <a:moveTo>
                    <a:pt x="75384" y="0"/>
                  </a:moveTo>
                  <a:lnTo>
                    <a:pt x="1304087" y="0"/>
                  </a:lnTo>
                  <a:cubicBezTo>
                    <a:pt x="1324080" y="0"/>
                    <a:pt x="1343254" y="7942"/>
                    <a:pt x="1357392" y="22080"/>
                  </a:cubicBezTo>
                  <a:cubicBezTo>
                    <a:pt x="1371529" y="36217"/>
                    <a:pt x="1379471" y="55391"/>
                    <a:pt x="1379471" y="75384"/>
                  </a:cubicBezTo>
                  <a:lnTo>
                    <a:pt x="1379471" y="875844"/>
                  </a:lnTo>
                  <a:cubicBezTo>
                    <a:pt x="1379471" y="917478"/>
                    <a:pt x="1345720" y="951229"/>
                    <a:pt x="1304087" y="951229"/>
                  </a:cubicBezTo>
                  <a:lnTo>
                    <a:pt x="75384" y="951229"/>
                  </a:lnTo>
                  <a:cubicBezTo>
                    <a:pt x="33751" y="951229"/>
                    <a:pt x="0" y="917478"/>
                    <a:pt x="0" y="875844"/>
                  </a:cubicBezTo>
                  <a:lnTo>
                    <a:pt x="0" y="75384"/>
                  </a:lnTo>
                  <a:cubicBezTo>
                    <a:pt x="0" y="33751"/>
                    <a:pt x="33751" y="0"/>
                    <a:pt x="75384" y="0"/>
                  </a:cubicBezTo>
                  <a:close/>
                </a:path>
              </a:pathLst>
            </a:custGeom>
            <a:solidFill>
              <a:srgbClr val="004369"/>
            </a:solidFill>
          </p:spPr>
        </p:sp>
        <p:sp>
          <p:nvSpPr>
            <p:cNvPr id="17" name="TextBox 17"/>
            <p:cNvSpPr txBox="1"/>
            <p:nvPr/>
          </p:nvSpPr>
          <p:spPr>
            <a:xfrm>
              <a:off x="0" y="-57150"/>
              <a:ext cx="1379471" cy="1008379"/>
            </a:xfrm>
            <a:prstGeom prst="rect">
              <a:avLst/>
            </a:prstGeom>
          </p:spPr>
          <p:txBody>
            <a:bodyPr lIns="50800" tIns="50800" rIns="50800" bIns="50800" rtlCol="0" anchor="ctr"/>
            <a:lstStyle/>
            <a:p>
              <a:pPr marL="0" lvl="0" indent="0" algn="ctr">
                <a:lnSpc>
                  <a:spcPts val="2659"/>
                </a:lnSpc>
              </a:pPr>
              <a:endParaRPr/>
            </a:p>
          </p:txBody>
        </p:sp>
      </p:grpSp>
      <p:sp>
        <p:nvSpPr>
          <p:cNvPr id="18" name="TextBox 18"/>
          <p:cNvSpPr txBox="1"/>
          <p:nvPr/>
        </p:nvSpPr>
        <p:spPr>
          <a:xfrm>
            <a:off x="3847913" y="7778115"/>
            <a:ext cx="10592174" cy="755015"/>
          </a:xfrm>
          <a:prstGeom prst="rect">
            <a:avLst/>
          </a:prstGeom>
        </p:spPr>
        <p:txBody>
          <a:bodyPr lIns="0" tIns="0" rIns="0" bIns="0" rtlCol="0" anchor="t">
            <a:spAutoFit/>
          </a:bodyPr>
          <a:lstStyle/>
          <a:p>
            <a:pPr marL="0" lvl="0" indent="0" algn="ctr">
              <a:lnSpc>
                <a:spcPts val="1959"/>
              </a:lnSpc>
            </a:pPr>
            <a:r>
              <a:rPr lang="en-US" sz="1399">
                <a:solidFill>
                  <a:srgbClr val="FFFFFF"/>
                </a:solidFill>
                <a:latin typeface="Poppins"/>
                <a:ea typeface="Poppins"/>
                <a:cs typeface="Poppins"/>
                <a:sym typeface="Poppins"/>
              </a:rPr>
              <a:t>While functional for demonstration purposes, this system has several constraints that limit its real-world applicability. These limitations represent opportunities for future development and enhancement of the hospital resource management system.</a:t>
            </a:r>
          </a:p>
        </p:txBody>
      </p:sp>
      <p:sp>
        <p:nvSpPr>
          <p:cNvPr id="19" name="TextBox 19"/>
          <p:cNvSpPr txBox="1"/>
          <p:nvPr/>
        </p:nvSpPr>
        <p:spPr>
          <a:xfrm>
            <a:off x="1885808" y="5114925"/>
            <a:ext cx="3523464" cy="836295"/>
          </a:xfrm>
          <a:prstGeom prst="rect">
            <a:avLst/>
          </a:prstGeom>
        </p:spPr>
        <p:txBody>
          <a:bodyPr lIns="0" tIns="0" rIns="0" bIns="0" rtlCol="0" anchor="t">
            <a:spAutoFit/>
          </a:bodyPr>
          <a:lstStyle/>
          <a:p>
            <a:pPr marL="0" lvl="0" indent="0" algn="ctr">
              <a:lnSpc>
                <a:spcPts val="1679"/>
              </a:lnSpc>
            </a:pPr>
            <a:r>
              <a:rPr lang="en-US" sz="1200">
                <a:solidFill>
                  <a:srgbClr val="FFFFFF"/>
                </a:solidFill>
                <a:latin typeface="Poppins"/>
                <a:ea typeface="Poppins"/>
                <a:cs typeface="Poppins"/>
                <a:sym typeface="Poppins"/>
              </a:rPr>
              <a:t>Uses linked list instead of full graph representation, limiting complex hospital network modeling and multi-path transfer scenarios.</a:t>
            </a:r>
          </a:p>
        </p:txBody>
      </p:sp>
      <p:sp>
        <p:nvSpPr>
          <p:cNvPr id="20" name="TextBox 20"/>
          <p:cNvSpPr txBox="1"/>
          <p:nvPr/>
        </p:nvSpPr>
        <p:spPr>
          <a:xfrm>
            <a:off x="7382268" y="5114925"/>
            <a:ext cx="3523464" cy="626745"/>
          </a:xfrm>
          <a:prstGeom prst="rect">
            <a:avLst/>
          </a:prstGeom>
        </p:spPr>
        <p:txBody>
          <a:bodyPr lIns="0" tIns="0" rIns="0" bIns="0" rtlCol="0" anchor="t">
            <a:spAutoFit/>
          </a:bodyPr>
          <a:lstStyle/>
          <a:p>
            <a:pPr marL="0" lvl="0" indent="0" algn="ctr">
              <a:lnSpc>
                <a:spcPts val="1679"/>
              </a:lnSpc>
            </a:pPr>
            <a:r>
              <a:rPr lang="en-US" sz="1200">
                <a:solidFill>
                  <a:srgbClr val="FFFFFF"/>
                </a:solidFill>
                <a:latin typeface="Poppins"/>
                <a:ea typeface="Poppins"/>
                <a:cs typeface="Poppins"/>
                <a:sym typeface="Poppins"/>
              </a:rPr>
              <a:t>No persistent file storage implemented. All hospital data is lost when the program exits, requiring re-entry each session.</a:t>
            </a:r>
          </a:p>
        </p:txBody>
      </p:sp>
      <p:sp>
        <p:nvSpPr>
          <p:cNvPr id="21" name="TextBox 21"/>
          <p:cNvSpPr txBox="1"/>
          <p:nvPr/>
        </p:nvSpPr>
        <p:spPr>
          <a:xfrm>
            <a:off x="12878728" y="5114925"/>
            <a:ext cx="3523464" cy="626745"/>
          </a:xfrm>
          <a:prstGeom prst="rect">
            <a:avLst/>
          </a:prstGeom>
        </p:spPr>
        <p:txBody>
          <a:bodyPr lIns="0" tIns="0" rIns="0" bIns="0" rtlCol="0" anchor="t">
            <a:spAutoFit/>
          </a:bodyPr>
          <a:lstStyle/>
          <a:p>
            <a:pPr marL="0" lvl="0" indent="0" algn="ctr">
              <a:lnSpc>
                <a:spcPts val="1679"/>
              </a:lnSpc>
            </a:pPr>
            <a:r>
              <a:rPr lang="en-US" sz="1200">
                <a:solidFill>
                  <a:srgbClr val="FFFFFF"/>
                </a:solidFill>
                <a:latin typeface="Poppins"/>
                <a:ea typeface="Poppins"/>
                <a:cs typeface="Poppins"/>
                <a:sym typeface="Poppins"/>
              </a:rPr>
              <a:t>Basic patient transfer simulation only. No real-time hospital connectivity or network communication features.</a:t>
            </a:r>
          </a:p>
        </p:txBody>
      </p:sp>
      <p:sp>
        <p:nvSpPr>
          <p:cNvPr id="22" name="TextBox 22"/>
          <p:cNvSpPr txBox="1"/>
          <p:nvPr/>
        </p:nvSpPr>
        <p:spPr>
          <a:xfrm>
            <a:off x="1955680" y="3952240"/>
            <a:ext cx="3383719" cy="183164"/>
          </a:xfrm>
          <a:prstGeom prst="rect">
            <a:avLst/>
          </a:prstGeom>
        </p:spPr>
        <p:txBody>
          <a:bodyPr lIns="0" tIns="0" rIns="0" bIns="0" rtlCol="0" anchor="t">
            <a:spAutoFit/>
          </a:bodyPr>
          <a:lstStyle/>
          <a:p>
            <a:pPr marL="0" lvl="0" indent="0" algn="ctr">
              <a:lnSpc>
                <a:spcPts val="1488"/>
              </a:lnSpc>
            </a:pPr>
            <a:r>
              <a:rPr lang="en-US" sz="1317" b="1">
                <a:solidFill>
                  <a:srgbClr val="FFFFFF"/>
                </a:solidFill>
                <a:latin typeface="League Spartan"/>
                <a:ea typeface="League Spartan"/>
                <a:cs typeface="League Spartan"/>
                <a:sym typeface="League Spartan"/>
              </a:rPr>
              <a:t>DATA STRUCTURE CONSTRAINT</a:t>
            </a:r>
          </a:p>
        </p:txBody>
      </p:sp>
      <p:sp>
        <p:nvSpPr>
          <p:cNvPr id="23" name="TextBox 23"/>
          <p:cNvSpPr txBox="1"/>
          <p:nvPr/>
        </p:nvSpPr>
        <p:spPr>
          <a:xfrm>
            <a:off x="13678375" y="4014787"/>
            <a:ext cx="1919092" cy="638648"/>
          </a:xfrm>
          <a:prstGeom prst="rect">
            <a:avLst/>
          </a:prstGeom>
        </p:spPr>
        <p:txBody>
          <a:bodyPr lIns="0" tIns="0" rIns="0" bIns="0" rtlCol="0" anchor="t">
            <a:spAutoFit/>
          </a:bodyPr>
          <a:lstStyle/>
          <a:p>
            <a:pPr marL="0" lvl="0" indent="0" algn="ctr">
              <a:lnSpc>
                <a:spcPts val="2481"/>
              </a:lnSpc>
            </a:pPr>
            <a:r>
              <a:rPr lang="en-US" sz="2196" b="1">
                <a:solidFill>
                  <a:srgbClr val="FFFFFF"/>
                </a:solidFill>
                <a:latin typeface="League Spartan"/>
                <a:ea typeface="League Spartan"/>
                <a:cs typeface="League Spartan"/>
                <a:sym typeface="League Spartan"/>
              </a:rPr>
              <a:t>NO PERSISTENCE</a:t>
            </a:r>
          </a:p>
        </p:txBody>
      </p:sp>
      <p:sp>
        <p:nvSpPr>
          <p:cNvPr id="24" name="TextBox 24"/>
          <p:cNvSpPr txBox="1"/>
          <p:nvPr/>
        </p:nvSpPr>
        <p:spPr>
          <a:xfrm>
            <a:off x="8184454" y="4014787"/>
            <a:ext cx="1919092" cy="638648"/>
          </a:xfrm>
          <a:prstGeom prst="rect">
            <a:avLst/>
          </a:prstGeom>
        </p:spPr>
        <p:txBody>
          <a:bodyPr lIns="0" tIns="0" rIns="0" bIns="0" rtlCol="0" anchor="t">
            <a:spAutoFit/>
          </a:bodyPr>
          <a:lstStyle/>
          <a:p>
            <a:pPr marL="0" lvl="0" indent="0" algn="ctr">
              <a:lnSpc>
                <a:spcPts val="2481"/>
              </a:lnSpc>
            </a:pPr>
            <a:r>
              <a:rPr lang="en-US" sz="2196" b="1">
                <a:solidFill>
                  <a:srgbClr val="FFFFFF"/>
                </a:solidFill>
                <a:latin typeface="League Spartan"/>
                <a:ea typeface="League Spartan"/>
                <a:cs typeface="League Spartan"/>
                <a:sym typeface="League Spartan"/>
              </a:rPr>
              <a:t>BASIC SIMULATION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7619B"/>
        </a:solidFill>
        <a:effectLst/>
      </p:bgPr>
    </p:bg>
    <p:spTree>
      <p:nvGrpSpPr>
        <p:cNvPr id="1" name=""/>
        <p:cNvGrpSpPr/>
        <p:nvPr/>
      </p:nvGrpSpPr>
      <p:grpSpPr>
        <a:xfrm>
          <a:off x="0" y="0"/>
          <a:ext cx="0" cy="0"/>
          <a:chOff x="0" y="0"/>
          <a:chExt cx="0" cy="0"/>
        </a:xfrm>
      </p:grpSpPr>
      <p:grpSp>
        <p:nvGrpSpPr>
          <p:cNvPr id="2" name="Group 2"/>
          <p:cNvGrpSpPr/>
          <p:nvPr/>
        </p:nvGrpSpPr>
        <p:grpSpPr>
          <a:xfrm>
            <a:off x="14031686" y="0"/>
            <a:ext cx="4256314" cy="10287000"/>
            <a:chOff x="0" y="0"/>
            <a:chExt cx="1121005" cy="2709333"/>
          </a:xfrm>
        </p:grpSpPr>
        <p:sp>
          <p:nvSpPr>
            <p:cNvPr id="3" name="Freeform 3"/>
            <p:cNvSpPr/>
            <p:nvPr/>
          </p:nvSpPr>
          <p:spPr>
            <a:xfrm>
              <a:off x="0" y="0"/>
              <a:ext cx="1121005" cy="2709333"/>
            </a:xfrm>
            <a:custGeom>
              <a:avLst/>
              <a:gdLst/>
              <a:ahLst/>
              <a:cxnLst/>
              <a:rect l="l" t="t" r="r" b="b"/>
              <a:pathLst>
                <a:path w="1121005" h="2709333">
                  <a:moveTo>
                    <a:pt x="0" y="0"/>
                  </a:moveTo>
                  <a:lnTo>
                    <a:pt x="1121005" y="0"/>
                  </a:lnTo>
                  <a:lnTo>
                    <a:pt x="1121005" y="2709333"/>
                  </a:lnTo>
                  <a:lnTo>
                    <a:pt x="0" y="2709333"/>
                  </a:lnTo>
                  <a:close/>
                </a:path>
              </a:pathLst>
            </a:custGeom>
            <a:solidFill>
              <a:srgbClr val="FFFFFF"/>
            </a:solidFill>
          </p:spPr>
        </p:sp>
        <p:sp>
          <p:nvSpPr>
            <p:cNvPr id="4" name="TextBox 4"/>
            <p:cNvSpPr txBox="1"/>
            <p:nvPr/>
          </p:nvSpPr>
          <p:spPr>
            <a:xfrm>
              <a:off x="0" y="-57150"/>
              <a:ext cx="1121005" cy="2766483"/>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10459535" y="1687286"/>
            <a:ext cx="6799765" cy="6912429"/>
            <a:chOff x="0" y="0"/>
            <a:chExt cx="1053461" cy="1070916"/>
          </a:xfrm>
        </p:grpSpPr>
        <p:sp>
          <p:nvSpPr>
            <p:cNvPr id="6" name="Freeform 6"/>
            <p:cNvSpPr/>
            <p:nvPr/>
          </p:nvSpPr>
          <p:spPr>
            <a:xfrm>
              <a:off x="0" y="0"/>
              <a:ext cx="1053461" cy="1070916"/>
            </a:xfrm>
            <a:custGeom>
              <a:avLst/>
              <a:gdLst/>
              <a:ahLst/>
              <a:cxnLst/>
              <a:rect l="l" t="t" r="r" b="b"/>
              <a:pathLst>
                <a:path w="1053461" h="1070916">
                  <a:moveTo>
                    <a:pt x="0" y="0"/>
                  </a:moveTo>
                  <a:lnTo>
                    <a:pt x="1053461" y="0"/>
                  </a:lnTo>
                  <a:lnTo>
                    <a:pt x="1053461" y="1070916"/>
                  </a:lnTo>
                  <a:lnTo>
                    <a:pt x="0" y="1070916"/>
                  </a:lnTo>
                  <a:close/>
                </a:path>
              </a:pathLst>
            </a:custGeom>
            <a:blipFill>
              <a:blip r:embed="rId2"/>
              <a:stretch>
                <a:fillRect l="-828" r="-828"/>
              </a:stretch>
            </a:blipFill>
          </p:spPr>
        </p:sp>
      </p:grpSp>
      <p:sp>
        <p:nvSpPr>
          <p:cNvPr id="7" name="Freeform 7"/>
          <p:cNvSpPr/>
          <p:nvPr/>
        </p:nvSpPr>
        <p:spPr>
          <a:xfrm flipH="1" flipV="1">
            <a:off x="0" y="0"/>
            <a:ext cx="3934056" cy="4114800"/>
          </a:xfrm>
          <a:custGeom>
            <a:avLst/>
            <a:gdLst/>
            <a:ahLst/>
            <a:cxnLst/>
            <a:rect l="l" t="t" r="r" b="b"/>
            <a:pathLst>
              <a:path w="3934056" h="4114800">
                <a:moveTo>
                  <a:pt x="3934056" y="4114800"/>
                </a:moveTo>
                <a:lnTo>
                  <a:pt x="0" y="4114800"/>
                </a:lnTo>
                <a:lnTo>
                  <a:pt x="0" y="0"/>
                </a:lnTo>
                <a:lnTo>
                  <a:pt x="3934056" y="0"/>
                </a:lnTo>
                <a:lnTo>
                  <a:pt x="3934056" y="4114800"/>
                </a:lnTo>
                <a:close/>
              </a:path>
            </a:pathLst>
          </a:custGeom>
          <a:blipFill>
            <a:blip>
              <a:extLst>
                <a:ext uri="{96DAC541-7B7A-43D3-8B79-37D633B846F1}">
                  <asvg:svgBlip xmlns:asvg="http://schemas.microsoft.com/office/drawing/2016/SVG/main" r:embed="rId3"/>
                </a:ext>
              </a:extLst>
            </a:blip>
            <a:stretch>
              <a:fillRect/>
            </a:stretch>
          </a:blipFill>
        </p:spPr>
      </p:sp>
      <p:grpSp>
        <p:nvGrpSpPr>
          <p:cNvPr id="8" name="Group 8"/>
          <p:cNvGrpSpPr/>
          <p:nvPr/>
        </p:nvGrpSpPr>
        <p:grpSpPr>
          <a:xfrm>
            <a:off x="-794905" y="-704533"/>
            <a:ext cx="2761933" cy="276193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id="10" name="TextBox 10"/>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1172123" y="-1380967"/>
            <a:ext cx="2761933" cy="276193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id="13" name="TextBox 13"/>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sp>
        <p:nvSpPr>
          <p:cNvPr id="14" name="TextBox 14"/>
          <p:cNvSpPr txBox="1"/>
          <p:nvPr/>
        </p:nvSpPr>
        <p:spPr>
          <a:xfrm>
            <a:off x="1028700" y="2917462"/>
            <a:ext cx="7032171" cy="1847349"/>
          </a:xfrm>
          <a:prstGeom prst="rect">
            <a:avLst/>
          </a:prstGeom>
        </p:spPr>
        <p:txBody>
          <a:bodyPr lIns="0" tIns="0" rIns="0" bIns="0" rtlCol="0" anchor="t">
            <a:spAutoFit/>
          </a:bodyPr>
          <a:lstStyle/>
          <a:p>
            <a:pPr marL="0" lvl="0" indent="0" algn="l">
              <a:lnSpc>
                <a:spcPts val="7200"/>
              </a:lnSpc>
            </a:pPr>
            <a:r>
              <a:rPr lang="en-US" sz="6372" b="1">
                <a:solidFill>
                  <a:srgbClr val="FFFFFF"/>
                </a:solidFill>
                <a:latin typeface="League Spartan"/>
                <a:ea typeface="League Spartan"/>
                <a:cs typeface="League Spartan"/>
                <a:sym typeface="League Spartan"/>
              </a:rPr>
              <a:t>FUTURE ENHANCEMENTS</a:t>
            </a:r>
          </a:p>
        </p:txBody>
      </p:sp>
      <p:sp>
        <p:nvSpPr>
          <p:cNvPr id="15" name="TextBox 15"/>
          <p:cNvSpPr txBox="1"/>
          <p:nvPr/>
        </p:nvSpPr>
        <p:spPr>
          <a:xfrm>
            <a:off x="1028700" y="5141067"/>
            <a:ext cx="7780634" cy="1065837"/>
          </a:xfrm>
          <a:prstGeom prst="rect">
            <a:avLst/>
          </a:prstGeom>
        </p:spPr>
        <p:txBody>
          <a:bodyPr lIns="0" tIns="0" rIns="0" bIns="0" rtlCol="0" anchor="t">
            <a:spAutoFit/>
          </a:bodyPr>
          <a:lstStyle/>
          <a:p>
            <a:pPr marL="0" lvl="0" indent="0" algn="l">
              <a:lnSpc>
                <a:spcPts val="2153"/>
              </a:lnSpc>
            </a:pPr>
            <a:r>
              <a:rPr lang="en-US" sz="1537">
                <a:solidFill>
                  <a:srgbClr val="FFFFFF"/>
                </a:solidFill>
                <a:latin typeface="Poppins"/>
                <a:ea typeface="Poppins"/>
                <a:cs typeface="Poppins"/>
                <a:sym typeface="Poppins"/>
              </a:rPr>
              <a:t>Convert to graph structure (adjacency list)</a:t>
            </a:r>
          </a:p>
          <a:p>
            <a:pPr marL="0" lvl="0" indent="0" algn="l">
              <a:lnSpc>
                <a:spcPts val="2153"/>
              </a:lnSpc>
            </a:pPr>
            <a:r>
              <a:rPr lang="en-US" sz="1537">
                <a:solidFill>
                  <a:srgbClr val="FFFFFF"/>
                </a:solidFill>
                <a:latin typeface="Poppins"/>
                <a:ea typeface="Poppins"/>
                <a:cs typeface="Poppins"/>
                <a:sym typeface="Poppins"/>
              </a:rPr>
              <a:t>Implement Dijkstra's algorithm for optimization</a:t>
            </a:r>
          </a:p>
          <a:p>
            <a:pPr marL="0" lvl="0" indent="0" algn="l">
              <a:lnSpc>
                <a:spcPts val="2153"/>
              </a:lnSpc>
            </a:pPr>
            <a:r>
              <a:rPr lang="en-US" sz="1537">
                <a:solidFill>
                  <a:srgbClr val="FFFFFF"/>
                </a:solidFill>
                <a:latin typeface="Poppins"/>
                <a:ea typeface="Poppins"/>
                <a:cs typeface="Poppins"/>
                <a:sym typeface="Poppins"/>
              </a:rPr>
              <a:t>Add file handling for persistent storage</a:t>
            </a:r>
          </a:p>
          <a:p>
            <a:pPr marL="0" lvl="0" indent="0" algn="l">
              <a:lnSpc>
                <a:spcPts val="2153"/>
              </a:lnSpc>
            </a:pPr>
            <a:r>
              <a:rPr lang="en-US" sz="1537">
                <a:solidFill>
                  <a:srgbClr val="FFFFFF"/>
                </a:solidFill>
                <a:latin typeface="Poppins"/>
                <a:ea typeface="Poppins"/>
                <a:cs typeface="Poppins"/>
                <a:sym typeface="Poppins"/>
              </a:rPr>
              <a:t>Develop GUI with C++ or Python</a:t>
            </a:r>
          </a:p>
        </p:txBody>
      </p:sp>
      <p:sp>
        <p:nvSpPr>
          <p:cNvPr id="16" name="TextBox 16"/>
          <p:cNvSpPr txBox="1"/>
          <p:nvPr/>
        </p:nvSpPr>
        <p:spPr>
          <a:xfrm>
            <a:off x="1028700" y="6613087"/>
            <a:ext cx="8115300" cy="1065837"/>
          </a:xfrm>
          <a:prstGeom prst="rect">
            <a:avLst/>
          </a:prstGeom>
        </p:spPr>
        <p:txBody>
          <a:bodyPr lIns="0" tIns="0" rIns="0" bIns="0" rtlCol="0" anchor="t">
            <a:spAutoFit/>
          </a:bodyPr>
          <a:lstStyle/>
          <a:p>
            <a:pPr marL="0" lvl="0" indent="0" algn="l">
              <a:lnSpc>
                <a:spcPts val="2153"/>
              </a:lnSpc>
            </a:pPr>
            <a:r>
              <a:rPr lang="en-US" sz="1537">
                <a:solidFill>
                  <a:srgbClr val="FFFFFF"/>
                </a:solidFill>
                <a:latin typeface="Poppins"/>
                <a:ea typeface="Poppins"/>
                <a:cs typeface="Poppins"/>
                <a:sym typeface="Poppins"/>
              </a:rPr>
              <a:t>These planned improvements will transform the current linked list implementation into a full graph-based system, enabling realistic patient transfer simulations with shortest path calculations. File storage ensures data persistence, while a graphical interface and authentication features will enhance usability and security.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7619B"/>
        </a:solidFill>
        <a:effectLst/>
      </p:bgPr>
    </p:bg>
    <p:spTree>
      <p:nvGrpSpPr>
        <p:cNvPr id="1" name=""/>
        <p:cNvGrpSpPr/>
        <p:nvPr/>
      </p:nvGrpSpPr>
      <p:grpSpPr>
        <a:xfrm>
          <a:off x="0" y="0"/>
          <a:ext cx="0" cy="0"/>
          <a:chOff x="0" y="0"/>
          <a:chExt cx="0" cy="0"/>
        </a:xfrm>
      </p:grpSpPr>
      <p:grpSp>
        <p:nvGrpSpPr>
          <p:cNvPr id="2" name="Group 2"/>
          <p:cNvGrpSpPr/>
          <p:nvPr/>
        </p:nvGrpSpPr>
        <p:grpSpPr>
          <a:xfrm>
            <a:off x="-1651907" y="-1983921"/>
            <a:ext cx="6882493" cy="688249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369"/>
            </a:solidFill>
          </p:spPr>
        </p:sp>
        <p:sp>
          <p:nvSpPr>
            <p:cNvPr id="4" name="TextBox 4"/>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13818054" y="6044293"/>
            <a:ext cx="6882493" cy="688249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369"/>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1501548" y="-1501548"/>
            <a:ext cx="5414282" cy="541428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42950" cap="sq">
              <a:solidFill>
                <a:srgbClr val="FFFFFF"/>
              </a:solidFill>
              <a:prstDash val="solid"/>
              <a:miter/>
            </a:ln>
          </p:spPr>
        </p:sp>
        <p:sp>
          <p:nvSpPr>
            <p:cNvPr id="10" name="TextBox 10"/>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14729052" y="7198179"/>
            <a:ext cx="5060496" cy="506049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14375" cap="sq">
              <a:solidFill>
                <a:srgbClr val="FFFFFF"/>
              </a:solidFill>
              <a:prstDash val="solid"/>
              <a:miter/>
            </a:ln>
          </p:spPr>
        </p:sp>
        <p:sp>
          <p:nvSpPr>
            <p:cNvPr id="13" name="TextBox 13"/>
            <p:cNvSpPr txBox="1"/>
            <p:nvPr/>
          </p:nvSpPr>
          <p:spPr>
            <a:xfrm>
              <a:off x="76200" y="19050"/>
              <a:ext cx="660400" cy="717550"/>
            </a:xfrm>
            <a:prstGeom prst="rect">
              <a:avLst/>
            </a:prstGeom>
          </p:spPr>
          <p:txBody>
            <a:bodyPr lIns="50800" tIns="50800" rIns="50800" bIns="50800" rtlCol="0" anchor="ctr"/>
            <a:lstStyle/>
            <a:p>
              <a:pPr marL="0" lvl="0" indent="0" algn="ctr">
                <a:lnSpc>
                  <a:spcPts val="2659"/>
                </a:lnSpc>
              </a:pPr>
              <a:endParaRPr/>
            </a:p>
          </p:txBody>
        </p:sp>
      </p:grpSp>
      <p:sp>
        <p:nvSpPr>
          <p:cNvPr id="14" name="TextBox 14"/>
          <p:cNvSpPr txBox="1"/>
          <p:nvPr/>
        </p:nvSpPr>
        <p:spPr>
          <a:xfrm>
            <a:off x="4357995" y="3063721"/>
            <a:ext cx="9572010" cy="4068969"/>
          </a:xfrm>
          <a:prstGeom prst="rect">
            <a:avLst/>
          </a:prstGeom>
        </p:spPr>
        <p:txBody>
          <a:bodyPr lIns="0" tIns="0" rIns="0" bIns="0" rtlCol="0" anchor="t">
            <a:spAutoFit/>
          </a:bodyPr>
          <a:lstStyle/>
          <a:p>
            <a:pPr marL="0" lvl="0" indent="0" algn="ctr">
              <a:lnSpc>
                <a:spcPts val="15967"/>
              </a:lnSpc>
            </a:pPr>
            <a:r>
              <a:rPr lang="en-US" sz="14130" b="1">
                <a:solidFill>
                  <a:srgbClr val="FFFFFF"/>
                </a:solidFill>
                <a:latin typeface="League Spartan"/>
                <a:ea typeface="League Spartan"/>
                <a:cs typeface="League Spartan"/>
                <a:sym typeface="League Spartan"/>
              </a:rPr>
              <a:t>THANK</a:t>
            </a:r>
          </a:p>
          <a:p>
            <a:pPr marL="0" lvl="0" indent="0" algn="ctr">
              <a:lnSpc>
                <a:spcPts val="15967"/>
              </a:lnSpc>
            </a:pPr>
            <a:r>
              <a:rPr lang="en-US" sz="14130" b="1">
                <a:solidFill>
                  <a:srgbClr val="FFFFFF"/>
                </a:solidFill>
                <a:latin typeface="League Spartan"/>
                <a:ea typeface="League Spartan"/>
                <a:cs typeface="League Spartan"/>
                <a:sym typeface="League Spartan"/>
              </a:rPr>
              <a:t>YOU!</a:t>
            </a:r>
          </a:p>
        </p:txBody>
      </p:sp>
      <p:sp>
        <p:nvSpPr>
          <p:cNvPr id="15" name="Freeform 15"/>
          <p:cNvSpPr/>
          <p:nvPr/>
        </p:nvSpPr>
        <p:spPr>
          <a:xfrm>
            <a:off x="14978743" y="-10287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6" name="Freeform 16"/>
          <p:cNvSpPr/>
          <p:nvPr/>
        </p:nvSpPr>
        <p:spPr>
          <a:xfrm>
            <a:off x="-851807" y="7151829"/>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839</Words>
  <Application>Microsoft Office PowerPoint</Application>
  <PresentationFormat>Custom</PresentationFormat>
  <Paragraphs>66</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Calibri</vt:lpstr>
      <vt:lpstr>Poppins Bold</vt:lpstr>
      <vt:lpstr>Arial</vt:lpstr>
      <vt:lpstr>League Spartan</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Patient Transfer Graph &amp; Resource Management</dc:title>
  <cp:lastModifiedBy>MN Siddhartha Reddy</cp:lastModifiedBy>
  <cp:revision>1</cp:revision>
  <dcterms:created xsi:type="dcterms:W3CDTF">2006-08-16T00:00:00Z</dcterms:created>
  <dcterms:modified xsi:type="dcterms:W3CDTF">2026-05-05T13:27:29Z</dcterms:modified>
  <dc:identifier>DAHIzd-uXs4</dc:identifier>
</cp:coreProperties>
</file>